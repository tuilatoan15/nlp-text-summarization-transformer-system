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7.webp" ContentType="image/webp"/>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Lst>
  <p:notesMasterIdLst>
    <p:notesMasterId r:id="rId16"/>
  </p:notesMasterIdLst>
  <p:handoutMasterIdLst>
    <p:handoutMasterId r:id="rId17"/>
  </p:handoutMasterIdLst>
  <p:sldIdLst>
    <p:sldId id="258" r:id="rId5"/>
    <p:sldId id="297" r:id="rId6"/>
    <p:sldId id="287" r:id="rId7"/>
    <p:sldId id="289" r:id="rId8"/>
    <p:sldId id="290" r:id="rId9"/>
    <p:sldId id="291" r:id="rId10"/>
    <p:sldId id="292" r:id="rId11"/>
    <p:sldId id="296" r:id="rId12"/>
    <p:sldId id="293" r:id="rId13"/>
    <p:sldId id="294" r:id="rId14"/>
    <p:sldId id="284" r:id="rId15"/>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6451A0-F9FE-46B3-A449-3600EA90B9C8}">
          <p14:sldIdLst>
            <p14:sldId id="258"/>
            <p14:sldId id="297"/>
            <p14:sldId id="287"/>
            <p14:sldId id="289"/>
            <p14:sldId id="290"/>
            <p14:sldId id="291"/>
            <p14:sldId id="292"/>
            <p14:sldId id="296"/>
            <p14:sldId id="293"/>
            <p14:sldId id="294"/>
            <p14:sldId id="28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176D"/>
    <a:srgbClr val="8378AA"/>
    <a:srgbClr val="FFFFFF"/>
    <a:srgbClr val="D4D9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B81D6-F261-4BD1-8935-0EDECFF278C0}" styleName="表样式 1 17">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rgbClr val="FFFFFF"/>
          </a:solidFill>
        </a:fill>
      </a:tcStyle>
    </a:wholeTbl>
    <a:band2H>
      <a:tcStyle>
        <a:tcBdr/>
        <a:fill>
          <a:solidFill>
            <a:schemeClr val="accent1">
              <a:lumMod val="10000"/>
              <a:lumOff val="90000"/>
            </a:schemeClr>
          </a:solidFill>
        </a:fill>
      </a:tcStyle>
    </a:band2H>
    <a:band1V>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10000"/>
              <a:lumOff val="90000"/>
            </a:schemeClr>
          </a:solidFill>
        </a:fill>
      </a:tcStyle>
    </a:band1V>
    <a:band2V>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lumMod val="40000"/>
                  <a:lumOff val="60000"/>
                </a:schemeClr>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TxStyle b="on">
        <a:fontRef idx="none">
          <a:schemeClr val="accent1"/>
        </a:fontRef>
      </a:tcTxStyle>
      <a:tcStyle>
        <a:tcBdr>
          <a:left>
            <a:ln>
              <a:noFill/>
            </a:ln>
          </a:left>
          <a:right>
            <a:ln w="9525" cmpd="sng">
              <a:solidFill>
                <a:schemeClr val="accent1"/>
              </a:solidFill>
              <a:prstDash val="solid"/>
            </a:ln>
          </a:right>
          <a:top>
            <a:ln w="9525" cmpd="sng">
              <a:solidFill>
                <a:schemeClr val="accent1">
                  <a:lumMod val="40000"/>
                  <a:lumOff val="60000"/>
                </a:schemeClr>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lumMod val="40000"/>
                  <a:lumOff val="60000"/>
                </a:schemeClr>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w="9525" cmpd="sng">
              <a:solidFill>
                <a:schemeClr val="accent1">
                  <a:lumMod val="40000"/>
                  <a:lumOff val="60000"/>
                </a:schemeClr>
              </a:solidFill>
              <a:prstDash val="solid"/>
            </a:ln>
          </a:insideV>
        </a:tcBdr>
        <a:fill>
          <a:solidFill>
            <a:srgbClr val="FFFFFF"/>
          </a:solidFill>
        </a:fill>
      </a:tcStyle>
    </a:firstRow>
    <a:neCell>
      <a:tcTxStyle b="on">
        <a:fontRef idx="none">
          <a:schemeClr val="accent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fill>
          <a:solidFill>
            <a:srgbClr val="FFFFFF"/>
          </a:solidFill>
        </a:fill>
      </a:tcStyle>
    </a:neCell>
    <a:n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fill>
          <a:solidFill>
            <a:srgbClr val="FFFFFF"/>
          </a:solidFill>
        </a:fill>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94" autoAdjust="0"/>
  </p:normalViewPr>
  <p:slideViewPr>
    <p:cSldViewPr snapToGrid="0">
      <p:cViewPr varScale="1">
        <p:scale>
          <a:sx n="78" d="100"/>
          <a:sy n="78" d="100"/>
        </p:scale>
        <p:origin x="87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1" Type="http://schemas.openxmlformats.org/officeDocument/2006/relationships/tags" Target="tags/tag5.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718691-4BB2-4AA2-95A3-198F465037B1}"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361C00-6DC7-474C-B4C4-7E932159BA1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8FF392D1-2731-4A64-A8C4-800CF188616C}"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4FCFE7-4CFC-4698-A5C8-57D6C94FD847}"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22BE161-68ED-4DEA-9665-A74B08172C26}"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4FCFE7-4CFC-4698-A5C8-57D6C94FD847}"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CF697FD-D854-4D7F-B4CA-EB7783D507AC}"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4FCFE7-4CFC-4698-A5C8-57D6C94FD847}"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D34B67CD-3063-439B-8E52-0BBC8E73A9A7}" type="datetime2">
              <a:rPr lang="vi-V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4FCFE7-4CFC-4698-A5C8-57D6C94FD84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857A71D-9DCB-4CA2-9314-BE609F467B08}" type="datetime2">
              <a:rPr lang="vi-VN"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4FCFE7-4CFC-4698-A5C8-57D6C94FD84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B7BD3A53-3039-4EB0-97CB-04F9EFF33D80}" type="datetime2">
              <a:rPr lang="vi-VN"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4FCFE7-4CFC-4698-A5C8-57D6C94FD84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C58572-5F3E-4CAD-8778-D7B776F292A4}" type="datetime2">
              <a:rPr lang="vi-VN"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4FCFE7-4CFC-4698-A5C8-57D6C94FD84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65FA384-BEAC-4CFC-B669-BC2EAC7CFBD1}" type="datetime2">
              <a:rPr lang="vi-V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4FCFE7-4CFC-4698-A5C8-57D6C94FD847}"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419875D-58A0-46FF-8AE7-ECA31B1CDE80}" type="datetime2">
              <a:rPr lang="vi-V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4FCFE7-4CFC-4698-A5C8-57D6C94FD847}"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980D5E2-3E21-4645-B8EE-318FC24E7F7E}"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4FCFE7-4CFC-4698-A5C8-57D6C94FD847}"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C38ACFD7-287C-4A68-8939-52248DE76552}"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4FCFE7-4CFC-4698-A5C8-57D6C94FD847}"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60000"/>
            <a:ext cx="10800000" cy="720000"/>
          </a:xfrm>
        </p:spPr>
        <p:txBody>
          <a:bodyPr wrap="square" lIns="0" tIns="0" rIns="0" bIns="0">
            <a:normAutofit/>
          </a:bodyPr>
          <a:lstStyle>
            <a:lvl1pPr algn="l" fontAlgn="base">
              <a:defRPr sz="3200">
                <a:solidFill>
                  <a:schemeClr val="tx1"/>
                </a:solidFill>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p>
            <a:endParaRPr lang="en-US" dirty="0"/>
          </a:p>
        </p:txBody>
      </p:sp>
      <p:sp>
        <p:nvSpPr>
          <p:cNvPr id="5" name="灯片编号占位符 4"/>
          <p:cNvSpPr>
            <a:spLocks noGrp="1"/>
          </p:cNvSpPr>
          <p:nvPr>
            <p:ph type="sldNum" sz="quarter" idx="12"/>
            <p:custDataLst>
              <p:tags r:id="rId5"/>
            </p:custDataLst>
          </p:nvPr>
        </p:nvSpPr>
        <p:spPr/>
        <p:txBody>
          <a:bodyPr wrap="square">
            <a:normAutofit/>
          </a:body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2A582E6D-BC7E-4260-8D42-9918E30CC348}"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D144F-5DBD-9A48-9660-8470FF1D8E9B}"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8BC6EBD-68D7-4BC6-A4E8-DE7CD36ACB89}"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D144F-5DBD-9A48-9660-8470FF1D8E9B}"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748C559-7BD2-4B1E-9CCA-817EE2AA86AE}"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D144F-5DBD-9A48-9660-8470FF1D8E9B}"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0FF3CD6-B548-4451-BF5C-B0EFF6413070}" type="datetime2">
              <a:rPr lang="vi-V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D144F-5DBD-9A48-9660-8470FF1D8E9B}"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0A1B683-1099-4598-9C4F-040B0666EBBC}" type="datetime2">
              <a:rPr lang="vi-VN"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2D144F-5DBD-9A48-9660-8470FF1D8E9B}"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BDDD1380-5B30-43E6-9ACA-5F9B2107494E}" type="datetime2">
              <a:rPr lang="vi-VN"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2D144F-5DBD-9A48-9660-8470FF1D8E9B}"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93A539-19D5-459E-988F-826301A9A2CD}" type="datetime2">
              <a:rPr lang="vi-VN"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2D144F-5DBD-9A48-9660-8470FF1D8E9B}"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5A24F5D-C21F-4E9B-AC28-ADE41CE5CFB8}" type="datetime2">
              <a:rPr lang="vi-V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D144F-5DBD-9A48-9660-8470FF1D8E9B}"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E103C6-677D-4DE6-81C8-6505CE54935C}" type="datetime2">
              <a:rPr lang="vi-V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D144F-5DBD-9A48-9660-8470FF1D8E9B}"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327BBFD-A564-4468-8F88-53A40B637CAB}"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D144F-5DBD-9A48-9660-8470FF1D8E9B}"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B9D8D36-1192-48C3-83C6-EFA598854226}"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D144F-5DBD-9A48-9660-8470FF1D8E9B}" type="slidenum">
              <a:rPr lang="en-US" smtClean="0"/>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B651B88-6D05-4440-A477-A46E69C12E4D}"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496F03-A6A2-FB47-A0B4-5ACFB75DEADB}" type="slidenum">
              <a:rPr lang="en-US" smtClean="0"/>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D29833-C20C-45E4-A0FC-87A90C410AC6}"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496F03-A6A2-FB47-A0B4-5ACFB75DEADB}" type="slidenum">
              <a:rPr lang="en-US" smtClean="0"/>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8BF0921-1BAA-48C0-ACDE-2D002D88DABE}"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496F03-A6A2-FB47-A0B4-5ACFB75DEADB}" type="slidenum">
              <a:rPr lang="en-US" smtClean="0"/>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3A4F11BE-FB3B-4869-94C8-74C2FA22BDDF}" type="datetime2">
              <a:rPr lang="vi-V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496F03-A6A2-FB47-A0B4-5ACFB75DEADB}" type="slidenum">
              <a:rPr lang="en-US" smtClean="0"/>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8EEDCCD5-AAEB-4BFE-BFE6-DD6BC603A9FD}" type="datetime2">
              <a:rPr lang="vi-VN"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496F03-A6A2-FB47-A0B4-5ACFB75DEADB}"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ACF45AC4-38DE-49E4-9EDF-803C30777E51}" type="datetime2">
              <a:rPr lang="vi-VN"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496F03-A6A2-FB47-A0B4-5ACFB75DEADB}" type="slidenum">
              <a:rPr lang="en-US" smtClean="0"/>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ED256A-84D8-4CF7-969C-24C1BD1587DC}" type="datetime2">
              <a:rPr lang="vi-VN"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496F03-A6A2-FB47-A0B4-5ACFB75DEADB}" type="slidenum">
              <a:rPr lang="en-US" smtClean="0"/>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9A85F16-F2C7-405E-AA94-81813848A326}" type="datetime2">
              <a:rPr lang="vi-V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496F03-A6A2-FB47-A0B4-5ACFB75DEADB}" type="slidenum">
              <a:rPr lang="en-US" smtClean="0"/>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375A3AA-76DB-450E-BC59-10DD81A42448}" type="datetime2">
              <a:rPr lang="vi-V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496F03-A6A2-FB47-A0B4-5ACFB75DEADB}" type="slidenum">
              <a:rPr lang="en-US" smtClean="0"/>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62A0EC2-CD3B-4AE3-A2BA-CA233B0DED36}"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496F03-A6A2-FB47-A0B4-5ACFB75DEADB}" type="slidenum">
              <a:rPr lang="en-US" smtClean="0"/>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F53F50C-4769-4249-9001-5C03F329B2FF}" type="datetime2">
              <a:rPr lang="vi-V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496F03-A6A2-FB47-A0B4-5ACFB75DEAD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CFA0E9-C7F1-4DCC-8B80-2EB93FE8F2B3}" type="datetime2">
              <a:rPr lang="vi-V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4FCFE7-4CFC-4698-A5C8-57D6C94FD847}" type="slidenum">
              <a:rPr lang="en-US" smtClean="0"/>
            </a:fld>
            <a:endParaRPr lang="en-US"/>
          </a:p>
        </p:txBody>
      </p:sp>
      <p:pic>
        <p:nvPicPr>
          <p:cNvPr id="7" name="Picture 6"/>
          <p:cNvPicPr>
            <a:picLocks noChangeAspect="1"/>
          </p:cNvPicPr>
          <p:nvPr userDrawn="1"/>
        </p:nvPicPr>
        <p:blipFill>
          <a:blip r:embed="rId13"/>
          <a:stretch>
            <a:fillRect/>
          </a:stretch>
        </p:blipFill>
        <p:spPr>
          <a:xfrm>
            <a:off x="0" y="-1"/>
            <a:ext cx="12192000" cy="695597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0AC20C-8ACF-4F6F-8CE4-B50830E8F553}" type="datetime2">
              <a:rPr lang="vi-V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2D144F-5DBD-9A48-9660-8470FF1D8E9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F86E70-9E99-48DB-9843-E462830FC812}" type="datetime2">
              <a:rPr lang="vi-V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496F03-A6A2-FB47-A0B4-5ACFB75DEAD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webp"/><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7725" y="356235"/>
            <a:ext cx="10103485" cy="368300"/>
          </a:xfrm>
          <a:prstGeom prst="rect">
            <a:avLst/>
          </a:prstGeom>
          <a:noFill/>
        </p:spPr>
        <p:txBody>
          <a:bodyPr wrap="square" rtlCol="0">
            <a:spAutoFit/>
          </a:bodyPr>
          <a:lstStyle/>
          <a:p>
            <a:pPr algn="ctr"/>
            <a:r>
              <a:rPr lang="vi-VN" b="1" dirty="0">
                <a:solidFill>
                  <a:schemeClr val="bg1"/>
                </a:solidFill>
                <a:latin typeface="+mj-lt"/>
              </a:rPr>
              <a:t>TRƯỜNG ĐẠI HỌC GIAO THÔNG VẬN TẢI PHÂN HIỆ</a:t>
            </a:r>
            <a:r>
              <a:rPr lang="en-US" altLang="vi-VN" b="1" dirty="0">
                <a:solidFill>
                  <a:schemeClr val="bg1"/>
                </a:solidFill>
                <a:latin typeface="+mj-lt"/>
              </a:rPr>
              <a:t>U</a:t>
            </a:r>
            <a:r>
              <a:rPr lang="vi-VN" b="1" dirty="0">
                <a:solidFill>
                  <a:schemeClr val="bg1"/>
                </a:solidFill>
                <a:latin typeface="+mj-lt"/>
              </a:rPr>
              <a:t> </a:t>
            </a:r>
            <a:r>
              <a:rPr lang="vi-VN" b="1" dirty="0">
                <a:solidFill>
                  <a:schemeClr val="bg1"/>
                </a:solidFill>
                <a:latin typeface="+mj-lt"/>
              </a:rPr>
              <a:t>TẠI THÀNH PHỐ HỒ CHÍ MINH</a:t>
            </a:r>
            <a:endParaRPr lang="vi-VN" b="1" dirty="0">
              <a:solidFill>
                <a:schemeClr val="bg1"/>
              </a:solidFill>
              <a:latin typeface="+mj-lt"/>
            </a:endParaRPr>
          </a:p>
        </p:txBody>
      </p:sp>
      <p:pic>
        <p:nvPicPr>
          <p:cNvPr id="3" name="Picture 2"/>
          <p:cNvPicPr/>
          <p:nvPr/>
        </p:nvPicPr>
        <p:blipFill>
          <a:blip r:embed="rId1">
            <a:extLst>
              <a:ext uri="{28A0092B-C50C-407E-A947-70E740481C1C}">
                <a14:useLocalDpi xmlns:a14="http://schemas.microsoft.com/office/drawing/2010/main" val="0"/>
              </a:ext>
            </a:extLst>
          </a:blip>
          <a:stretch>
            <a:fillRect/>
          </a:stretch>
        </p:blipFill>
        <p:spPr>
          <a:xfrm>
            <a:off x="5343206" y="2462143"/>
            <a:ext cx="1505585" cy="1505585"/>
          </a:xfrm>
          <a:prstGeom prst="rect">
            <a:avLst/>
          </a:prstGeom>
        </p:spPr>
      </p:pic>
      <p:sp>
        <p:nvSpPr>
          <p:cNvPr id="5" name="TextBox 4"/>
          <p:cNvSpPr txBox="1"/>
          <p:nvPr/>
        </p:nvSpPr>
        <p:spPr>
          <a:xfrm>
            <a:off x="3048000" y="1301115"/>
            <a:ext cx="6096000" cy="1248410"/>
          </a:xfrm>
          <a:prstGeom prst="rect">
            <a:avLst/>
          </a:prstGeom>
          <a:noFill/>
        </p:spPr>
        <p:txBody>
          <a:bodyPr wrap="square">
            <a:noAutofit/>
          </a:bodyPr>
          <a:lstStyle/>
          <a:p>
            <a:pPr marL="466725" marR="116840" indent="-6350" algn="ctr" fontAlgn="auto">
              <a:lnSpc>
                <a:spcPct val="107000"/>
              </a:lnSpc>
              <a:spcAft>
                <a:spcPts val="1000"/>
              </a:spcAft>
            </a:pPr>
            <a:r>
              <a:rPr lang="vi-VN" sz="1800" b="1" kern="100" dirty="0">
                <a:solidFill>
                  <a:srgbClr val="29176D"/>
                </a:solidFill>
                <a:effectLst/>
                <a:latin typeface="Times New Roman" panose="02020603050405020304" pitchFamily="18" charset="0"/>
                <a:ea typeface="Times New Roman" panose="02020603050405020304" pitchFamily="18" charset="0"/>
              </a:rPr>
              <a:t>BỘ GIÁO DỤC VÀ ĐÀO TẠO </a:t>
            </a:r>
            <a:endParaRPr lang="vi-VN" sz="2000" b="1" kern="100" dirty="0">
              <a:solidFill>
                <a:srgbClr val="29176D"/>
              </a:solidFill>
              <a:effectLst/>
              <a:latin typeface="Times New Roman" panose="02020603050405020304" pitchFamily="18" charset="0"/>
              <a:ea typeface="Times New Roman" panose="02020603050405020304" pitchFamily="18" charset="0"/>
            </a:endParaRPr>
          </a:p>
          <a:p>
            <a:pPr marL="6350" indent="-6350" algn="ctr">
              <a:lnSpc>
                <a:spcPct val="107000"/>
              </a:lnSpc>
              <a:spcAft>
                <a:spcPts val="205"/>
              </a:spcAft>
            </a:pPr>
            <a:r>
              <a:rPr lang="vi-VN" sz="1800" b="1" kern="100" dirty="0">
                <a:solidFill>
                  <a:srgbClr val="29176D"/>
                </a:solidFill>
                <a:effectLst/>
                <a:latin typeface="Times New Roman" panose="02020603050405020304" pitchFamily="18" charset="0"/>
                <a:ea typeface="Times New Roman" panose="02020603050405020304" pitchFamily="18" charset="0"/>
                <a:cs typeface="Times New Roman" panose="02020603050405020304" pitchFamily="18" charset="0"/>
              </a:rPr>
              <a:t>TRƯỜNG ĐẠI HỌC GIAO THÔNG VẬN TẢI PHÂN HIỆU </a:t>
            </a:r>
            <a:r>
              <a:rPr lang="vi-VN" sz="1800" b="1" kern="100" dirty="0">
                <a:solidFill>
                  <a:srgbClr val="29176D"/>
                </a:solidFill>
                <a:effectLst/>
                <a:latin typeface="Times New Roman" panose="02020603050405020304" pitchFamily="18" charset="0"/>
                <a:ea typeface="Times New Roman" panose="02020603050405020304" pitchFamily="18" charset="0"/>
                <a:cs typeface="Times New Roman" panose="02020603050405020304" pitchFamily="18" charset="0"/>
              </a:rPr>
              <a:t>TẠI TP. HỒ CHÍ MINH </a:t>
            </a:r>
            <a:endParaRPr lang="vi-VN" sz="1800" kern="100" dirty="0">
              <a:solidFill>
                <a:srgbClr val="29176D"/>
              </a:solidFill>
              <a:effectLst/>
              <a:latin typeface="Times New Roman" panose="02020603050405020304" pitchFamily="18" charset="0"/>
              <a:ea typeface="Times New Roman" panose="02020603050405020304" pitchFamily="18" charset="0"/>
              <a:cs typeface="Calibri" panose="020F0502020204030204" pitchFamily="34" charset="0"/>
            </a:endParaRPr>
          </a:p>
        </p:txBody>
      </p:sp>
      <p:sp>
        <p:nvSpPr>
          <p:cNvPr id="7" name="TextBox 6"/>
          <p:cNvSpPr txBox="1"/>
          <p:nvPr/>
        </p:nvSpPr>
        <p:spPr>
          <a:xfrm>
            <a:off x="525145" y="4476115"/>
            <a:ext cx="11089005" cy="706755"/>
          </a:xfrm>
          <a:prstGeom prst="rect">
            <a:avLst/>
          </a:prstGeom>
          <a:noFill/>
        </p:spPr>
        <p:txBody>
          <a:bodyPr wrap="square" lIns="91440" tIns="45720" rIns="91440" bIns="45720" anchor="t">
            <a:spAutoFit/>
          </a:bodyPr>
          <a:lstStyle/>
          <a:p>
            <a:pPr algn="ctr"/>
            <a:r>
              <a:rPr lang="vi-VN" altLang="en-US" sz="2000" b="1" dirty="0">
                <a:solidFill>
                  <a:srgbClr val="29176D"/>
                </a:solidFill>
                <a:effectLst/>
                <a:latin typeface="Times New Roman" panose="02020603050405020304" pitchFamily="18" charset="0"/>
                <a:cs typeface="Times New Roman" panose="02020603050405020304" pitchFamily="18" charset="0"/>
              </a:rPr>
              <a:t>ĐỀ TÀI: </a:t>
            </a:r>
            <a:r>
              <a:rPr lang="en-US" altLang="en-US" sz="2000" b="1" dirty="0">
                <a:solidFill>
                  <a:srgbClr val="29176D"/>
                </a:solidFill>
                <a:effectLst/>
                <a:latin typeface="Times New Roman" panose="02020603050405020304" pitchFamily="18" charset="0"/>
                <a:cs typeface="Times New Roman" panose="02020603050405020304" pitchFamily="18" charset="0"/>
              </a:rPr>
              <a:t>NGHI</a:t>
            </a:r>
            <a:r>
              <a:rPr lang="en-US" altLang="en-US" sz="2000" b="1" dirty="0">
                <a:solidFill>
                  <a:srgbClr val="29176D"/>
                </a:solidFill>
                <a:effectLst/>
                <a:latin typeface="Times New Roman" panose="02020603050405020304" pitchFamily="18" charset="0"/>
                <a:cs typeface="Times New Roman" panose="02020603050405020304" pitchFamily="18" charset="0"/>
              </a:rPr>
              <a:t>Ê</a:t>
            </a:r>
            <a:r>
              <a:rPr lang="en-US" altLang="en-US" sz="2000" b="1" dirty="0">
                <a:solidFill>
                  <a:srgbClr val="29176D"/>
                </a:solidFill>
                <a:effectLst/>
                <a:latin typeface="Times New Roman" panose="02020603050405020304" pitchFamily="18" charset="0"/>
                <a:cs typeface="Times New Roman" panose="02020603050405020304" pitchFamily="18" charset="0"/>
              </a:rPr>
              <a:t>N CỨU V</a:t>
            </a:r>
            <a:r>
              <a:rPr lang="en-US" altLang="en-US" sz="2000" b="1" dirty="0">
                <a:solidFill>
                  <a:srgbClr val="29176D"/>
                </a:solidFill>
                <a:effectLst/>
                <a:latin typeface="Times New Roman" panose="02020603050405020304" pitchFamily="18" charset="0"/>
                <a:cs typeface="Times New Roman" panose="02020603050405020304" pitchFamily="18" charset="0"/>
              </a:rPr>
              <a:t>À</a:t>
            </a:r>
            <a:r>
              <a:rPr lang="en-US" altLang="en-US" sz="2000" b="1" dirty="0">
                <a:solidFill>
                  <a:srgbClr val="29176D"/>
                </a:solidFill>
                <a:effectLst/>
                <a:latin typeface="Times New Roman" panose="02020603050405020304" pitchFamily="18" charset="0"/>
                <a:cs typeface="Times New Roman" panose="02020603050405020304" pitchFamily="18" charset="0"/>
              </a:rPr>
              <a:t> </a:t>
            </a:r>
            <a:r>
              <a:rPr lang="en-US" altLang="en-US" sz="2000" b="1" dirty="0">
                <a:solidFill>
                  <a:srgbClr val="29176D"/>
                </a:solidFill>
                <a:effectLst/>
                <a:latin typeface="Times New Roman" panose="02020603050405020304" pitchFamily="18" charset="0"/>
                <a:cs typeface="Times New Roman" panose="02020603050405020304" pitchFamily="18" charset="0"/>
              </a:rPr>
              <a:t>ĐÁ</a:t>
            </a:r>
            <a:r>
              <a:rPr lang="en-US" altLang="en-US" sz="2000" b="1" dirty="0">
                <a:solidFill>
                  <a:srgbClr val="29176D"/>
                </a:solidFill>
                <a:effectLst/>
                <a:latin typeface="Times New Roman" panose="02020603050405020304" pitchFamily="18" charset="0"/>
                <a:cs typeface="Times New Roman" panose="02020603050405020304" pitchFamily="18" charset="0"/>
              </a:rPr>
              <a:t>NH GI</a:t>
            </a:r>
            <a:r>
              <a:rPr lang="en-US" altLang="en-US" sz="2000" b="1" dirty="0">
                <a:solidFill>
                  <a:srgbClr val="29176D"/>
                </a:solidFill>
                <a:effectLst/>
                <a:latin typeface="Times New Roman" panose="02020603050405020304" pitchFamily="18" charset="0"/>
                <a:cs typeface="Times New Roman" panose="02020603050405020304" pitchFamily="18" charset="0"/>
              </a:rPr>
              <a:t>Á</a:t>
            </a:r>
            <a:r>
              <a:rPr lang="en-US" altLang="en-US" sz="2000" b="1" dirty="0">
                <a:solidFill>
                  <a:srgbClr val="29176D"/>
                </a:solidFill>
                <a:effectLst/>
                <a:latin typeface="Times New Roman" panose="02020603050405020304" pitchFamily="18" charset="0"/>
                <a:cs typeface="Times New Roman" panose="02020603050405020304" pitchFamily="18" charset="0"/>
              </a:rPr>
              <a:t> PH</a:t>
            </a:r>
            <a:r>
              <a:rPr lang="en-US" altLang="en-US" sz="2000" b="1" dirty="0">
                <a:solidFill>
                  <a:srgbClr val="29176D"/>
                </a:solidFill>
                <a:effectLst/>
                <a:latin typeface="Times New Roman" panose="02020603050405020304" pitchFamily="18" charset="0"/>
                <a:cs typeface="Times New Roman" panose="02020603050405020304" pitchFamily="18" charset="0"/>
              </a:rPr>
              <a:t>ƯƠ</a:t>
            </a:r>
            <a:r>
              <a:rPr lang="en-US" altLang="en-US" sz="2000" b="1" dirty="0">
                <a:solidFill>
                  <a:srgbClr val="29176D"/>
                </a:solidFill>
                <a:effectLst/>
                <a:latin typeface="Times New Roman" panose="02020603050405020304" pitchFamily="18" charset="0"/>
                <a:cs typeface="Times New Roman" panose="02020603050405020304" pitchFamily="18" charset="0"/>
              </a:rPr>
              <a:t>NG PH</a:t>
            </a:r>
            <a:r>
              <a:rPr lang="en-US" altLang="en-US" sz="2000" b="1" dirty="0">
                <a:solidFill>
                  <a:srgbClr val="29176D"/>
                </a:solidFill>
                <a:effectLst/>
                <a:latin typeface="Times New Roman" panose="02020603050405020304" pitchFamily="18" charset="0"/>
                <a:cs typeface="Times New Roman" panose="02020603050405020304" pitchFamily="18" charset="0"/>
              </a:rPr>
              <a:t>Á</a:t>
            </a:r>
            <a:r>
              <a:rPr lang="en-US" altLang="en-US" sz="2000" b="1" dirty="0">
                <a:solidFill>
                  <a:srgbClr val="29176D"/>
                </a:solidFill>
                <a:effectLst/>
                <a:latin typeface="Times New Roman" panose="02020603050405020304" pitchFamily="18" charset="0"/>
                <a:cs typeface="Times New Roman" panose="02020603050405020304" pitchFamily="18" charset="0"/>
              </a:rPr>
              <a:t>P LAI GIỮA TR</a:t>
            </a:r>
            <a:r>
              <a:rPr lang="en-US" altLang="en-US" sz="2000" b="1" dirty="0">
                <a:solidFill>
                  <a:srgbClr val="29176D"/>
                </a:solidFill>
                <a:effectLst/>
                <a:latin typeface="Times New Roman" panose="02020603050405020304" pitchFamily="18" charset="0"/>
                <a:cs typeface="Times New Roman" panose="02020603050405020304" pitchFamily="18" charset="0"/>
              </a:rPr>
              <a:t>Í</a:t>
            </a:r>
            <a:r>
              <a:rPr lang="en-US" altLang="en-US" sz="2000" b="1" dirty="0">
                <a:solidFill>
                  <a:srgbClr val="29176D"/>
                </a:solidFill>
                <a:effectLst/>
                <a:latin typeface="Times New Roman" panose="02020603050405020304" pitchFamily="18" charset="0"/>
                <a:cs typeface="Times New Roman" panose="02020603050405020304" pitchFamily="18" charset="0"/>
              </a:rPr>
              <a:t>CH R</a:t>
            </a:r>
            <a:r>
              <a:rPr lang="en-US" altLang="en-US" sz="2000" b="1" dirty="0">
                <a:solidFill>
                  <a:srgbClr val="29176D"/>
                </a:solidFill>
                <a:effectLst/>
                <a:latin typeface="Times New Roman" panose="02020603050405020304" pitchFamily="18" charset="0"/>
                <a:cs typeface="Times New Roman" panose="02020603050405020304" pitchFamily="18" charset="0"/>
              </a:rPr>
              <a:t>Ú</a:t>
            </a:r>
            <a:r>
              <a:rPr lang="en-US" altLang="en-US" sz="2000" b="1" dirty="0">
                <a:solidFill>
                  <a:srgbClr val="29176D"/>
                </a:solidFill>
                <a:effectLst/>
                <a:latin typeface="Times New Roman" panose="02020603050405020304" pitchFamily="18" charset="0"/>
                <a:cs typeface="Times New Roman" panose="02020603050405020304" pitchFamily="18" charset="0"/>
              </a:rPr>
              <a:t>T V</a:t>
            </a:r>
            <a:r>
              <a:rPr lang="en-US" altLang="en-US" sz="2000" b="1" dirty="0">
                <a:solidFill>
                  <a:srgbClr val="29176D"/>
                </a:solidFill>
                <a:effectLst/>
                <a:latin typeface="Times New Roman" panose="02020603050405020304" pitchFamily="18" charset="0"/>
                <a:cs typeface="Times New Roman" panose="02020603050405020304" pitchFamily="18" charset="0"/>
              </a:rPr>
              <a:t>À</a:t>
            </a:r>
            <a:r>
              <a:rPr lang="en-US" altLang="en-US" sz="2000" b="1" dirty="0">
                <a:solidFill>
                  <a:srgbClr val="29176D"/>
                </a:solidFill>
                <a:effectLst/>
                <a:latin typeface="Times New Roman" panose="02020603050405020304" pitchFamily="18" charset="0"/>
                <a:cs typeface="Times New Roman" panose="02020603050405020304" pitchFamily="18" charset="0"/>
              </a:rPr>
              <a:t> </a:t>
            </a:r>
            <a:endParaRPr lang="en-US" altLang="en-US" sz="2000" b="1" dirty="0">
              <a:solidFill>
                <a:srgbClr val="29176D"/>
              </a:solidFill>
              <a:effectLst/>
              <a:latin typeface="Times New Roman" panose="02020603050405020304" pitchFamily="18" charset="0"/>
              <a:cs typeface="Times New Roman" panose="02020603050405020304" pitchFamily="18" charset="0"/>
            </a:endParaRPr>
          </a:p>
          <a:p>
            <a:pPr algn="ctr"/>
            <a:r>
              <a:rPr lang="en-US" altLang="en-US" sz="2000" b="1" dirty="0">
                <a:solidFill>
                  <a:srgbClr val="29176D"/>
                </a:solidFill>
                <a:effectLst/>
                <a:latin typeface="Times New Roman" panose="02020603050405020304" pitchFamily="18" charset="0"/>
                <a:cs typeface="Times New Roman" panose="02020603050405020304" pitchFamily="18" charset="0"/>
              </a:rPr>
              <a:t>DIỄN GIẢI</a:t>
            </a:r>
            <a:r>
              <a:rPr lang="vi-VN" altLang="en-US" sz="2000" b="1" dirty="0">
                <a:solidFill>
                  <a:srgbClr val="29176D"/>
                </a:solidFill>
                <a:effectLst/>
                <a:latin typeface="Times New Roman" panose="02020603050405020304" pitchFamily="18" charset="0"/>
                <a:cs typeface="Times New Roman" panose="02020603050405020304" pitchFamily="18" charset="0"/>
              </a:rPr>
              <a:t> </a:t>
            </a:r>
            <a:r>
              <a:rPr lang="en-US" altLang="en-US" sz="2000" b="1" dirty="0">
                <a:solidFill>
                  <a:srgbClr val="29176D"/>
                </a:solidFill>
                <a:effectLst/>
                <a:latin typeface="Times New Roman" panose="02020603050405020304" pitchFamily="18" charset="0"/>
                <a:cs typeface="Times New Roman" panose="02020603050405020304" pitchFamily="18" charset="0"/>
              </a:rPr>
              <a:t>CHO B</a:t>
            </a:r>
            <a:r>
              <a:rPr lang="en-US" altLang="en-US" sz="2000" b="1" dirty="0">
                <a:solidFill>
                  <a:srgbClr val="29176D"/>
                </a:solidFill>
                <a:effectLst/>
                <a:latin typeface="Times New Roman" panose="02020603050405020304" pitchFamily="18" charset="0"/>
                <a:cs typeface="Times New Roman" panose="02020603050405020304" pitchFamily="18" charset="0"/>
              </a:rPr>
              <a:t>À</a:t>
            </a:r>
            <a:r>
              <a:rPr lang="en-US" altLang="en-US" sz="2000" b="1" dirty="0">
                <a:solidFill>
                  <a:srgbClr val="29176D"/>
                </a:solidFill>
                <a:effectLst/>
                <a:latin typeface="Times New Roman" panose="02020603050405020304" pitchFamily="18" charset="0"/>
                <a:cs typeface="Times New Roman" panose="02020603050405020304" pitchFamily="18" charset="0"/>
              </a:rPr>
              <a:t>I TO</a:t>
            </a:r>
            <a:r>
              <a:rPr lang="en-US" altLang="en-US" sz="2000" b="1" dirty="0">
                <a:solidFill>
                  <a:srgbClr val="29176D"/>
                </a:solidFill>
                <a:effectLst/>
                <a:latin typeface="Times New Roman" panose="02020603050405020304" pitchFamily="18" charset="0"/>
                <a:cs typeface="Times New Roman" panose="02020603050405020304" pitchFamily="18" charset="0"/>
              </a:rPr>
              <a:t>Á</a:t>
            </a:r>
            <a:r>
              <a:rPr lang="en-US" altLang="en-US" sz="2000" b="1" dirty="0">
                <a:solidFill>
                  <a:srgbClr val="29176D"/>
                </a:solidFill>
                <a:effectLst/>
                <a:latin typeface="Times New Roman" panose="02020603050405020304" pitchFamily="18" charset="0"/>
                <a:cs typeface="Times New Roman" panose="02020603050405020304" pitchFamily="18" charset="0"/>
              </a:rPr>
              <a:t>N T</a:t>
            </a:r>
            <a:r>
              <a:rPr lang="en-US" altLang="en-US" sz="2000" b="1" dirty="0">
                <a:solidFill>
                  <a:srgbClr val="29176D"/>
                </a:solidFill>
                <a:effectLst/>
                <a:latin typeface="Times New Roman" panose="02020603050405020304" pitchFamily="18" charset="0"/>
                <a:cs typeface="Times New Roman" panose="02020603050405020304" pitchFamily="18" charset="0"/>
              </a:rPr>
              <a:t>Ó</a:t>
            </a:r>
            <a:r>
              <a:rPr lang="en-US" altLang="en-US" sz="2000" b="1" dirty="0">
                <a:solidFill>
                  <a:srgbClr val="29176D"/>
                </a:solidFill>
                <a:effectLst/>
                <a:latin typeface="Times New Roman" panose="02020603050405020304" pitchFamily="18" charset="0"/>
                <a:cs typeface="Times New Roman" panose="02020603050405020304" pitchFamily="18" charset="0"/>
              </a:rPr>
              <a:t>M TẮT V</a:t>
            </a:r>
            <a:r>
              <a:rPr lang="en-US" altLang="en-US" sz="2000" b="1" dirty="0">
                <a:solidFill>
                  <a:srgbClr val="29176D"/>
                </a:solidFill>
                <a:effectLst/>
                <a:latin typeface="Times New Roman" panose="02020603050405020304" pitchFamily="18" charset="0"/>
                <a:cs typeface="Times New Roman" panose="02020603050405020304" pitchFamily="18" charset="0"/>
              </a:rPr>
              <a:t>Ă</a:t>
            </a:r>
            <a:r>
              <a:rPr lang="en-US" altLang="en-US" sz="2000" b="1" dirty="0">
                <a:solidFill>
                  <a:srgbClr val="29176D"/>
                </a:solidFill>
                <a:effectLst/>
                <a:latin typeface="Times New Roman" panose="02020603050405020304" pitchFamily="18" charset="0"/>
                <a:cs typeface="Times New Roman" panose="02020603050405020304" pitchFamily="18" charset="0"/>
              </a:rPr>
              <a:t>N BẢN TIẾNG VIỆT</a:t>
            </a:r>
            <a:endParaRPr lang="en-US" altLang="en-US" sz="2000" b="1" dirty="0">
              <a:solidFill>
                <a:srgbClr val="29176D"/>
              </a:solidFill>
              <a:effectLst/>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3C4FCFE7-4CFC-4698-A5C8-57D6C94FD847}" type="slidenum">
              <a:rPr lang="en-US" smtClean="0"/>
            </a:fld>
            <a:endParaRPr lang="en-US"/>
          </a:p>
        </p:txBody>
      </p:sp>
      <p:sp>
        <p:nvSpPr>
          <p:cNvPr id="10" name="Text Box 9"/>
          <p:cNvSpPr txBox="1"/>
          <p:nvPr/>
        </p:nvSpPr>
        <p:spPr>
          <a:xfrm>
            <a:off x="3498850" y="5265420"/>
            <a:ext cx="5194300" cy="501015"/>
          </a:xfrm>
          <a:prstGeom prst="rect">
            <a:avLst/>
          </a:prstGeom>
          <a:noFill/>
        </p:spPr>
        <p:txBody>
          <a:bodyPr wrap="square" rtlCol="0">
            <a:noAutofit/>
          </a:bodyPr>
          <a:p>
            <a:pPr algn="l"/>
            <a:r>
              <a:rPr lang="vi-VN" altLang="en-US" sz="2000" b="1">
                <a:solidFill>
                  <a:schemeClr val="accent1">
                    <a:lumMod val="50000"/>
                  </a:schemeClr>
                </a:solidFill>
                <a:latin typeface="Times New Roman" panose="02020603050405020304" pitchFamily="18" charset="0"/>
                <a:cs typeface="Times New Roman" panose="02020603050405020304" pitchFamily="18" charset="0"/>
                <a:sym typeface="+mn-ea"/>
              </a:rPr>
              <a:t>Giảng viên hướng dẫn : ThS. Trần Phong </a:t>
            </a:r>
            <a:r>
              <a:rPr lang="vi-VN" altLang="en-US" sz="2000" b="1">
                <a:solidFill>
                  <a:schemeClr val="accent1">
                    <a:lumMod val="50000"/>
                  </a:schemeClr>
                </a:solidFill>
                <a:latin typeface="Times New Roman" panose="02020603050405020304" pitchFamily="18" charset="0"/>
                <a:cs typeface="Times New Roman" panose="02020603050405020304" pitchFamily="18" charset="0"/>
                <a:sym typeface="+mn-ea"/>
              </a:rPr>
              <a:t>Nhã</a:t>
            </a:r>
            <a:endParaRPr lang="vi-VN" altLang="en-US" sz="2000" b="1">
              <a:solidFill>
                <a:schemeClr val="accent1">
                  <a:lumMod val="50000"/>
                </a:schemeClr>
              </a:solidFill>
              <a:latin typeface="Times New Roman" panose="02020603050405020304" pitchFamily="18" charset="0"/>
              <a:cs typeface="Times New Roman" panose="02020603050405020304" pitchFamily="18" charset="0"/>
              <a:sym typeface="+mn-ea"/>
            </a:endParaRPr>
          </a:p>
        </p:txBody>
      </p:sp>
      <p:sp>
        <p:nvSpPr>
          <p:cNvPr id="4" name="TextBox 6"/>
          <p:cNvSpPr txBox="1"/>
          <p:nvPr/>
        </p:nvSpPr>
        <p:spPr>
          <a:xfrm>
            <a:off x="1924050" y="4077335"/>
            <a:ext cx="8291195" cy="398780"/>
          </a:xfrm>
          <a:prstGeom prst="rect">
            <a:avLst/>
          </a:prstGeom>
          <a:noFill/>
        </p:spPr>
        <p:txBody>
          <a:bodyPr wrap="square" lIns="91440" tIns="45720" rIns="91440" bIns="45720" anchor="t">
            <a:spAutoFit/>
          </a:bodyPr>
          <a:p>
            <a:pPr algn="ctr"/>
            <a:r>
              <a:rPr lang="vi-VN" altLang="en-US" sz="2000" b="1" dirty="0">
                <a:solidFill>
                  <a:srgbClr val="29176D"/>
                </a:solidFill>
                <a:effectLst/>
                <a:latin typeface="Times New Roman" panose="02020603050405020304" pitchFamily="18" charset="0"/>
                <a:cs typeface="Times New Roman" panose="02020603050405020304" pitchFamily="18" charset="0"/>
              </a:rPr>
              <a:t>BÁO CÁO ĐỒ ÁN TỐT </a:t>
            </a:r>
            <a:r>
              <a:rPr lang="vi-VN" altLang="en-US" sz="2000" b="1" dirty="0">
                <a:solidFill>
                  <a:srgbClr val="29176D"/>
                </a:solidFill>
                <a:effectLst/>
                <a:latin typeface="Times New Roman" panose="02020603050405020304" pitchFamily="18" charset="0"/>
                <a:cs typeface="Times New Roman" panose="02020603050405020304" pitchFamily="18" charset="0"/>
              </a:rPr>
              <a:t>NGHIỆP</a:t>
            </a:r>
            <a:endParaRPr lang="vi-VN" altLang="en-US" sz="2000" b="1" dirty="0">
              <a:solidFill>
                <a:srgbClr val="29176D"/>
              </a:solidFill>
              <a:effectLst/>
              <a:latin typeface="Times New Roman" panose="02020603050405020304" pitchFamily="18" charset="0"/>
              <a:cs typeface="Times New Roman" panose="02020603050405020304" pitchFamily="18" charset="0"/>
            </a:endParaRPr>
          </a:p>
        </p:txBody>
      </p:sp>
      <p:sp>
        <p:nvSpPr>
          <p:cNvPr id="9" name="Text Box 8"/>
          <p:cNvSpPr txBox="1"/>
          <p:nvPr/>
        </p:nvSpPr>
        <p:spPr>
          <a:xfrm>
            <a:off x="3498850" y="5709285"/>
            <a:ext cx="4989195" cy="501015"/>
          </a:xfrm>
          <a:prstGeom prst="rect">
            <a:avLst/>
          </a:prstGeom>
          <a:noFill/>
        </p:spPr>
        <p:txBody>
          <a:bodyPr wrap="square" rtlCol="0">
            <a:noAutofit/>
          </a:bodyPr>
          <a:p>
            <a:pPr algn="l"/>
            <a:r>
              <a:rPr lang="vi-VN" altLang="en-US" sz="2000" b="1">
                <a:solidFill>
                  <a:schemeClr val="accent1">
                    <a:lumMod val="50000"/>
                  </a:schemeClr>
                </a:solidFill>
                <a:latin typeface="Times New Roman" panose="02020603050405020304" pitchFamily="18" charset="0"/>
                <a:cs typeface="Times New Roman" panose="02020603050405020304" pitchFamily="18" charset="0"/>
                <a:sym typeface="+mn-ea"/>
              </a:rPr>
              <a:t>Sinh viên thực hiện      : Nguyễn Hữu </a:t>
            </a:r>
            <a:r>
              <a:rPr lang="vi-VN" altLang="en-US" sz="2000" b="1">
                <a:solidFill>
                  <a:schemeClr val="accent1">
                    <a:lumMod val="50000"/>
                  </a:schemeClr>
                </a:solidFill>
                <a:latin typeface="Times New Roman" panose="02020603050405020304" pitchFamily="18" charset="0"/>
                <a:cs typeface="Times New Roman" panose="02020603050405020304" pitchFamily="18" charset="0"/>
                <a:sym typeface="+mn-ea"/>
              </a:rPr>
              <a:t>Toàn</a:t>
            </a:r>
            <a:endParaRPr lang="vi-VN" altLang="en-US" sz="2000" b="1">
              <a:solidFill>
                <a:schemeClr val="accent1">
                  <a:lumMod val="50000"/>
                </a:schemeClr>
              </a:solidFill>
              <a:latin typeface="Times New Roman" panose="02020603050405020304" pitchFamily="18" charset="0"/>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3C4FCFE7-4CFC-4698-A5C8-57D6C94FD847}" type="slidenum">
              <a:rPr lang="en-US" smtClean="0"/>
            </a:fld>
            <a:endParaRPr lang="en-US"/>
          </a:p>
        </p:txBody>
      </p:sp>
      <p:sp>
        <p:nvSpPr>
          <p:cNvPr id="3" name="TextBox 1"/>
          <p:cNvSpPr txBox="1"/>
          <p:nvPr/>
        </p:nvSpPr>
        <p:spPr>
          <a:xfrm>
            <a:off x="847725" y="356235"/>
            <a:ext cx="10103485" cy="368300"/>
          </a:xfrm>
          <a:prstGeom prst="rect">
            <a:avLst/>
          </a:prstGeom>
          <a:noFill/>
        </p:spPr>
        <p:txBody>
          <a:bodyPr wrap="square" rtlCol="0">
            <a:spAutoFit/>
          </a:bodyPr>
          <a:lstStyle/>
          <a:p>
            <a:pPr algn="ctr"/>
            <a:r>
              <a:rPr lang="vi-VN" b="1" dirty="0">
                <a:solidFill>
                  <a:schemeClr val="bg1"/>
                </a:solidFill>
                <a:latin typeface="+mj-lt"/>
              </a:rPr>
              <a:t>TRƯỜNG ĐẠI HỌC GIAO THÔNG VẬN TẢI PHÂN HIỆ</a:t>
            </a:r>
            <a:r>
              <a:rPr lang="en-US" altLang="vi-VN" b="1" dirty="0">
                <a:solidFill>
                  <a:schemeClr val="bg1"/>
                </a:solidFill>
                <a:latin typeface="+mj-lt"/>
              </a:rPr>
              <a:t>U</a:t>
            </a:r>
            <a:r>
              <a:rPr lang="vi-VN" b="1" dirty="0">
                <a:solidFill>
                  <a:schemeClr val="bg1"/>
                </a:solidFill>
                <a:latin typeface="+mj-lt"/>
              </a:rPr>
              <a:t> </a:t>
            </a:r>
            <a:r>
              <a:rPr lang="vi-VN" b="1" dirty="0">
                <a:solidFill>
                  <a:schemeClr val="bg1"/>
                </a:solidFill>
                <a:latin typeface="+mj-lt"/>
              </a:rPr>
              <a:t>TẠI THÀNH PHỐ HỒ CHÍ MINH</a:t>
            </a:r>
            <a:endParaRPr lang="vi-VN" b="1" dirty="0">
              <a:solidFill>
                <a:schemeClr val="bg1"/>
              </a:solidFill>
              <a:latin typeface="+mj-lt"/>
            </a:endParaRPr>
          </a:p>
        </p:txBody>
      </p:sp>
      <p:pic>
        <p:nvPicPr>
          <p:cNvPr id="5" name="Picture 4" descr="ChatGPT Image Jul 1, 2026, 11_16_45 PM"/>
          <p:cNvPicPr>
            <a:picLocks noChangeAspect="1"/>
          </p:cNvPicPr>
          <p:nvPr/>
        </p:nvPicPr>
        <p:blipFill>
          <a:blip r:embed="rId1"/>
          <a:stretch>
            <a:fillRect/>
          </a:stretch>
        </p:blipFill>
        <p:spPr>
          <a:xfrm>
            <a:off x="1335405" y="1238250"/>
            <a:ext cx="9521190" cy="5118100"/>
          </a:xfrm>
          <a:prstGeom prst="rect">
            <a:avLst/>
          </a:prstGeom>
        </p:spPr>
      </p:pic>
      <p:sp>
        <p:nvSpPr>
          <p:cNvPr id="4" name="Text Box 3"/>
          <p:cNvSpPr txBox="1"/>
          <p:nvPr/>
        </p:nvSpPr>
        <p:spPr>
          <a:xfrm>
            <a:off x="4064000" y="1461135"/>
            <a:ext cx="4064000" cy="475615"/>
          </a:xfrm>
          <a:prstGeom prst="rect">
            <a:avLst/>
          </a:prstGeom>
          <a:noFill/>
        </p:spPr>
        <p:txBody>
          <a:bodyPr wrap="square" rtlCol="0">
            <a:spAutoFit/>
          </a:bodyPr>
          <a:p>
            <a:pPr algn="ctr"/>
            <a:r>
              <a:rPr lang="vi-VN" altLang="en-US" sz="2500" b="1">
                <a:latin typeface="Times New Roman" panose="02020603050405020304" pitchFamily="18" charset="0"/>
                <a:cs typeface="Times New Roman" panose="02020603050405020304" pitchFamily="18" charset="0"/>
              </a:rPr>
              <a:t>NỘI DUNG BÀI BÁO CÁO</a:t>
            </a:r>
            <a:endParaRPr lang="vi-VN" altLang="en-US" sz="25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3C4FCFE7-4CFC-4698-A5C8-57D6C94FD847}" type="slidenum">
              <a:rPr lang="en-US" smtClean="0"/>
            </a:fld>
            <a:endParaRPr lang="en-US"/>
          </a:p>
        </p:txBody>
      </p:sp>
      <p:sp>
        <p:nvSpPr>
          <p:cNvPr id="5" name="Text Box 4"/>
          <p:cNvSpPr txBox="1"/>
          <p:nvPr/>
        </p:nvSpPr>
        <p:spPr>
          <a:xfrm>
            <a:off x="1326515" y="2002155"/>
            <a:ext cx="10471785" cy="3342640"/>
          </a:xfrm>
          <a:prstGeom prst="rect">
            <a:avLst/>
          </a:prstGeom>
        </p:spPr>
        <p:txBody>
          <a:bodyPr wrap="square">
            <a:noAutofit/>
          </a:bodyPr>
          <a:p>
            <a:pPr marL="285750" indent="-285750">
              <a:lnSpc>
                <a:spcPct val="115000"/>
              </a:lnSpc>
              <a:spcBef>
                <a:spcPts val="0"/>
              </a:spcBef>
              <a:spcAft>
                <a:spcPts val="0"/>
              </a:spcAft>
              <a:buFont typeface="Wingdings" panose="05000000000000000000" charset="0"/>
              <a:buChar char="Ø"/>
            </a:pPr>
            <a:r>
              <a:rPr i="1">
                <a:latin typeface="Times New Roman" panose="02020603050405020304" pitchFamily="18" charset="0"/>
                <a:cs typeface="Times New Roman" panose="02020603050405020304" pitchFamily="18" charset="0"/>
              </a:rPr>
              <a:t>Mục tiêu chính:</a:t>
            </a:r>
            <a:r>
              <a:rPr>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Phát triển một hệ thống Web</a:t>
            </a:r>
            <a:r>
              <a:rPr lang="vi-VN" altLang="en-US">
                <a:latin typeface="Times New Roman" panose="02020603050405020304" pitchFamily="18" charset="0"/>
                <a:cs typeface="Times New Roman" panose="02020603050405020304" pitchFamily="18" charset="0"/>
              </a:rPr>
              <a:t>site với giao diện</a:t>
            </a:r>
            <a:r>
              <a:rPr lang="en-US" altLang="en-US">
                <a:latin typeface="Times New Roman" panose="02020603050405020304" pitchFamily="18" charset="0"/>
                <a:cs typeface="Times New Roman" panose="02020603050405020304" pitchFamily="18" charset="0"/>
              </a:rPr>
              <a:t> trực quan cho phép ng</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ời dùng dễ dàng tóm tắt v</a:t>
            </a:r>
            <a:r>
              <a:rPr lang="en-US" altLang="en-US">
                <a:latin typeface="Times New Roman" panose="02020603050405020304" pitchFamily="18" charset="0"/>
                <a:cs typeface="Times New Roman" panose="02020603050405020304" pitchFamily="18" charset="0"/>
              </a:rPr>
              <a:t>ă</a:t>
            </a:r>
            <a:r>
              <a:rPr lang="en-US" altLang="en-US">
                <a:latin typeface="Times New Roman" panose="02020603050405020304" pitchFamily="18" charset="0"/>
                <a:cs typeface="Times New Roman" panose="02020603050405020304" pitchFamily="18" charset="0"/>
              </a:rPr>
              <a:t>n bản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a thuật toán</a:t>
            </a:r>
            <a:r>
              <a:rPr lang="vi-VN" altLang="en-US">
                <a:latin typeface="Times New Roman" panose="02020603050405020304" pitchFamily="18" charset="0"/>
                <a:cs typeface="Times New Roman" panose="02020603050405020304" pitchFamily="18" charset="0"/>
              </a:rPr>
              <a:t> </a:t>
            </a:r>
            <a:r>
              <a:rPr lang="vi-VN" altLang="en-US">
                <a:latin typeface="Times New Roman" panose="02020603050405020304" pitchFamily="18" charset="0"/>
                <a:cs typeface="Times New Roman" panose="02020603050405020304" pitchFamily="18" charset="0"/>
              </a:rPr>
              <a:t>và so sánh kết quả </a:t>
            </a:r>
            <a:r>
              <a:rPr lang="vi-VN" altLang="en-US">
                <a:latin typeface="Times New Roman" panose="02020603050405020304" pitchFamily="18" charset="0"/>
                <a:cs typeface="Times New Roman" panose="02020603050405020304" pitchFamily="18" charset="0"/>
              </a:rPr>
              <a:t>của các loại thuật toán tóm tắt.</a:t>
            </a:r>
            <a:r>
              <a:rPr lang="vi-VN" altLang="en-US" u="heavy">
                <a:latin typeface="Times New Roman" panose="02020603050405020304" pitchFamily="18" charset="0"/>
                <a:cs typeface="Times New Roman" panose="02020603050405020304" pitchFamily="18" charset="0"/>
              </a:rPr>
              <a:t> </a:t>
            </a:r>
            <a:endParaRPr lang="en-US" altLang="en-US">
              <a:latin typeface="Times New Roman" panose="02020603050405020304" pitchFamily="18" charset="0"/>
              <a:cs typeface="Times New Roman" panose="02020603050405020304" pitchFamily="18" charset="0"/>
            </a:endParaRPr>
          </a:p>
          <a:p>
            <a:pPr marL="285750" indent="-285750">
              <a:lnSpc>
                <a:spcPct val="115000"/>
              </a:lnSpc>
              <a:spcBef>
                <a:spcPts val="0"/>
              </a:spcBef>
              <a:spcAft>
                <a:spcPts val="0"/>
              </a:spcAft>
              <a:buFont typeface="Wingdings" panose="05000000000000000000" charset="0"/>
              <a:buChar char="Ø"/>
            </a:pPr>
            <a:endParaRPr lang="en-US" altLang="en-US">
              <a:latin typeface="Times New Roman" panose="02020603050405020304" pitchFamily="18" charset="0"/>
              <a:cs typeface="Times New Roman" panose="02020603050405020304" pitchFamily="18" charset="0"/>
            </a:endParaRPr>
          </a:p>
          <a:p>
            <a:pPr marL="285750" indent="-285750">
              <a:lnSpc>
                <a:spcPct val="115000"/>
              </a:lnSpc>
              <a:spcBef>
                <a:spcPts val="0"/>
              </a:spcBef>
              <a:spcAft>
                <a:spcPts val="0"/>
              </a:spcAft>
              <a:buFont typeface="Wingdings" panose="05000000000000000000" charset="0"/>
              <a:buChar char="Ø"/>
            </a:pPr>
            <a:r>
              <a:rPr i="1">
                <a:latin typeface="Times New Roman" panose="02020603050405020304" pitchFamily="18" charset="0"/>
                <a:cs typeface="Times New Roman" panose="02020603050405020304" pitchFamily="18" charset="0"/>
              </a:rPr>
              <a:t>Tầm qua</a:t>
            </a:r>
            <a:r>
              <a:rPr lang="vi-VN" i="1">
                <a:latin typeface="Times New Roman" panose="02020603050405020304" pitchFamily="18" charset="0"/>
                <a:cs typeface="Times New Roman" panose="02020603050405020304" pitchFamily="18" charset="0"/>
              </a:rPr>
              <a:t>n trọng</a:t>
            </a:r>
            <a:r>
              <a:rPr i="1">
                <a:latin typeface="Times New Roman" panose="02020603050405020304" pitchFamily="18" charset="0"/>
                <a:cs typeface="Times New Roman" panose="02020603050405020304" pitchFamily="18" charset="0"/>
              </a:rPr>
              <a:t> của dự án:</a:t>
            </a:r>
            <a:r>
              <a:rPr>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Việc tự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ộng hóa tóm tắt nội dung </a:t>
            </a:r>
            <a:r>
              <a:rPr lang="vi-VN" altLang="en-US">
                <a:latin typeface="Times New Roman" panose="02020603050405020304" pitchFamily="18" charset="0"/>
                <a:cs typeface="Times New Roman" panose="02020603050405020304" pitchFamily="18" charset="0"/>
              </a:rPr>
              <a:t>bài báo và cung cấp các độ đo về độ trùng khớp từ, độ tương đồng ngữ nghĩa và thời gian chạy trên nhiều tài liệu có độ dài khác nhau cung cấp cái nhìn trực quan hơn về ưu nhược điểm các phương pháp tóm </a:t>
            </a:r>
            <a:r>
              <a:rPr lang="vi-VN" altLang="en-US">
                <a:latin typeface="Times New Roman" panose="02020603050405020304" pitchFamily="18" charset="0"/>
                <a:cs typeface="Times New Roman" panose="02020603050405020304" pitchFamily="18" charset="0"/>
              </a:rPr>
              <a:t>tắt.</a:t>
            </a:r>
            <a:endParaRPr lang="vi-VN" altLang="en-US">
              <a:latin typeface="Times New Roman" panose="02020603050405020304" pitchFamily="18" charset="0"/>
              <a:cs typeface="Times New Roman" panose="02020603050405020304" pitchFamily="18" charset="0"/>
            </a:endParaRPr>
          </a:p>
          <a:p>
            <a:pPr indent="0">
              <a:lnSpc>
                <a:spcPct val="115000"/>
              </a:lnSpc>
              <a:spcBef>
                <a:spcPts val="0"/>
              </a:spcBef>
              <a:spcAft>
                <a:spcPts val="0"/>
              </a:spcAft>
              <a:buFont typeface="Wingdings" panose="05000000000000000000" charset="0"/>
              <a:buNone/>
            </a:pPr>
            <a:endParaRPr lang="en-US" altLang="en-US">
              <a:latin typeface="Times New Roman" panose="02020603050405020304" pitchFamily="18" charset="0"/>
              <a:cs typeface="Times New Roman" panose="02020603050405020304" pitchFamily="18" charset="0"/>
            </a:endParaRPr>
          </a:p>
          <a:p>
            <a:pPr marL="285750" indent="-285750">
              <a:lnSpc>
                <a:spcPct val="115000"/>
              </a:lnSpc>
              <a:spcBef>
                <a:spcPts val="0"/>
              </a:spcBef>
              <a:spcAft>
                <a:spcPts val="0"/>
              </a:spcAft>
              <a:buFont typeface="Wingdings" panose="05000000000000000000" charset="0"/>
              <a:buChar char="Ø"/>
            </a:pPr>
            <a:r>
              <a:rPr i="1">
                <a:latin typeface="Times New Roman" panose="02020603050405020304" pitchFamily="18" charset="0"/>
                <a:cs typeface="Times New Roman" panose="02020603050405020304" pitchFamily="18" charset="0"/>
              </a:rPr>
              <a:t>Đối tượng sử dụng:</a:t>
            </a:r>
            <a:r>
              <a:rPr>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Hệ thống h</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ớng tới các biên tập viên báo chí, sinh viên và những ng</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ời th</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ờng xuyên phải xử l</a:t>
            </a:r>
            <a:r>
              <a:rPr lang="en-US" altLang="en-US">
                <a:latin typeface="Times New Roman" panose="02020603050405020304" pitchFamily="18" charset="0"/>
                <a:cs typeface="Times New Roman" panose="02020603050405020304" pitchFamily="18" charset="0"/>
              </a:rPr>
              <a:t>ý</a:t>
            </a:r>
            <a:r>
              <a:rPr lang="en-US"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ọc hiểu các v</a:t>
            </a:r>
            <a:r>
              <a:rPr lang="en-US" altLang="en-US">
                <a:latin typeface="Times New Roman" panose="02020603050405020304" pitchFamily="18" charset="0"/>
                <a:cs typeface="Times New Roman" panose="02020603050405020304" pitchFamily="18" charset="0"/>
              </a:rPr>
              <a:t>ă</a:t>
            </a:r>
            <a:r>
              <a:rPr lang="en-US" altLang="en-US">
                <a:latin typeface="Times New Roman" panose="02020603050405020304" pitchFamily="18" charset="0"/>
                <a:cs typeface="Times New Roman" panose="02020603050405020304" pitchFamily="18" charset="0"/>
              </a:rPr>
              <a:t>n bản, b</a:t>
            </a:r>
            <a:r>
              <a:rPr lang="vi-VN" altLang="en-US">
                <a:latin typeface="Times New Roman" panose="02020603050405020304" pitchFamily="18" charset="0"/>
                <a:cs typeface="Times New Roman" panose="02020603050405020304" pitchFamily="18" charset="0"/>
              </a:rPr>
              <a:t>ài báo</a:t>
            </a:r>
            <a:r>
              <a:rPr lang="en-US" altLang="en-US">
                <a:latin typeface="Times New Roman" panose="02020603050405020304" pitchFamily="18" charset="0"/>
                <a:cs typeface="Times New Roman" panose="02020603050405020304" pitchFamily="18" charset="0"/>
              </a:rPr>
              <a:t> hoặc tài liệu nghiên cứu </a:t>
            </a:r>
            <a:r>
              <a:rPr lang="vi-VN" altLang="en-US">
                <a:latin typeface="Times New Roman" panose="02020603050405020304" pitchFamily="18" charset="0"/>
                <a:cs typeface="Times New Roman" panose="02020603050405020304" pitchFamily="18" charset="0"/>
              </a:rPr>
              <a:t>có độ dài vừa phải </a:t>
            </a:r>
            <a:r>
              <a:rPr lang="en-US" altLang="en-US">
                <a:latin typeface="Times New Roman" panose="02020603050405020304" pitchFamily="18" charset="0"/>
                <a:cs typeface="Times New Roman" panose="02020603050405020304" pitchFamily="18" charset="0"/>
              </a:rPr>
              <a:t>bằng tiếng Việt.</a:t>
            </a:r>
            <a:endParaRPr lang="en-US" altLang="en-US">
              <a:latin typeface="Times New Roman" panose="02020603050405020304" pitchFamily="18" charset="0"/>
              <a:cs typeface="Times New Roman" panose="02020603050405020304" pitchFamily="18" charset="0"/>
            </a:endParaRPr>
          </a:p>
        </p:txBody>
      </p:sp>
      <p:sp>
        <p:nvSpPr>
          <p:cNvPr id="7" name="Text Box 6"/>
          <p:cNvSpPr txBox="1"/>
          <p:nvPr/>
        </p:nvSpPr>
        <p:spPr>
          <a:xfrm>
            <a:off x="563245" y="1470025"/>
            <a:ext cx="3219450" cy="398780"/>
          </a:xfrm>
          <a:prstGeom prst="rect">
            <a:avLst/>
          </a:prstGeom>
          <a:noFill/>
        </p:spPr>
        <p:txBody>
          <a:bodyPr wrap="square" rtlCol="0">
            <a:spAutoFit/>
          </a:bodyPr>
          <a:p>
            <a:r>
              <a:rPr lang="vi-VN" altLang="en-US" sz="2000" b="1">
                <a:latin typeface="Times New Roman" panose="02020603050405020304" pitchFamily="18" charset="0"/>
                <a:cs typeface="Times New Roman" panose="02020603050405020304" pitchFamily="18" charset="0"/>
              </a:rPr>
              <a:t>I. GIỚI THIỆU DỰ ÁN</a:t>
            </a:r>
            <a:endParaRPr lang="vi-VN" altLang="en-US" sz="2000" b="1">
              <a:latin typeface="Times New Roman" panose="02020603050405020304" pitchFamily="18" charset="0"/>
              <a:cs typeface="Times New Roman" panose="02020603050405020304" pitchFamily="18" charset="0"/>
            </a:endParaRPr>
          </a:p>
        </p:txBody>
      </p:sp>
      <p:sp>
        <p:nvSpPr>
          <p:cNvPr id="6" name="TextBox 1"/>
          <p:cNvSpPr txBox="1"/>
          <p:nvPr/>
        </p:nvSpPr>
        <p:spPr>
          <a:xfrm>
            <a:off x="847725" y="356235"/>
            <a:ext cx="10103485" cy="368300"/>
          </a:xfrm>
          <a:prstGeom prst="rect">
            <a:avLst/>
          </a:prstGeom>
          <a:noFill/>
        </p:spPr>
        <p:txBody>
          <a:bodyPr wrap="square" rtlCol="0">
            <a:spAutoFit/>
          </a:bodyPr>
          <a:lstStyle/>
          <a:p>
            <a:pPr algn="ctr"/>
            <a:r>
              <a:rPr lang="vi-VN" b="1" dirty="0">
                <a:solidFill>
                  <a:schemeClr val="bg1"/>
                </a:solidFill>
                <a:latin typeface="+mj-lt"/>
              </a:rPr>
              <a:t>TRƯỜNG ĐẠI HỌC GIAO THÔNG VẬN TẢI PHÂN HIỆ</a:t>
            </a:r>
            <a:r>
              <a:rPr lang="en-US" altLang="vi-VN" b="1" dirty="0">
                <a:solidFill>
                  <a:schemeClr val="bg1"/>
                </a:solidFill>
                <a:latin typeface="+mj-lt"/>
              </a:rPr>
              <a:t>U</a:t>
            </a:r>
            <a:r>
              <a:rPr lang="vi-VN" b="1" dirty="0">
                <a:solidFill>
                  <a:schemeClr val="bg1"/>
                </a:solidFill>
                <a:latin typeface="+mj-lt"/>
              </a:rPr>
              <a:t> </a:t>
            </a:r>
            <a:r>
              <a:rPr lang="vi-VN" b="1" dirty="0">
                <a:solidFill>
                  <a:schemeClr val="bg1"/>
                </a:solidFill>
                <a:latin typeface="+mj-lt"/>
              </a:rPr>
              <a:t>TẠI THÀNH PHỐ HỒ CHÍ MINH</a:t>
            </a:r>
            <a:endParaRPr lang="vi-VN" b="1" dirty="0">
              <a:solidFill>
                <a:schemeClr val="bg1"/>
              </a:solidFill>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3C4FCFE7-4CFC-4698-A5C8-57D6C94FD847}" type="slidenum">
              <a:rPr lang="en-US" smtClean="0"/>
            </a:fld>
            <a:endParaRPr lang="en-US"/>
          </a:p>
        </p:txBody>
      </p:sp>
      <p:sp>
        <p:nvSpPr>
          <p:cNvPr id="3" name="TextBox 1"/>
          <p:cNvSpPr txBox="1"/>
          <p:nvPr/>
        </p:nvSpPr>
        <p:spPr>
          <a:xfrm>
            <a:off x="847725" y="356235"/>
            <a:ext cx="10103485" cy="368300"/>
          </a:xfrm>
          <a:prstGeom prst="rect">
            <a:avLst/>
          </a:prstGeom>
          <a:noFill/>
        </p:spPr>
        <p:txBody>
          <a:bodyPr wrap="square" rtlCol="0">
            <a:spAutoFit/>
          </a:bodyPr>
          <a:lstStyle/>
          <a:p>
            <a:pPr algn="ctr"/>
            <a:r>
              <a:rPr lang="vi-VN" b="1" dirty="0">
                <a:solidFill>
                  <a:schemeClr val="bg1"/>
                </a:solidFill>
                <a:latin typeface="+mj-lt"/>
              </a:rPr>
              <a:t>TRƯỜNG ĐẠI HỌC GIAO THÔNG VẬN TẢI PHÂN HIỆ</a:t>
            </a:r>
            <a:r>
              <a:rPr lang="en-US" altLang="vi-VN" b="1" dirty="0">
                <a:solidFill>
                  <a:schemeClr val="bg1"/>
                </a:solidFill>
                <a:latin typeface="+mj-lt"/>
              </a:rPr>
              <a:t>U</a:t>
            </a:r>
            <a:r>
              <a:rPr lang="vi-VN" b="1" dirty="0">
                <a:solidFill>
                  <a:schemeClr val="bg1"/>
                </a:solidFill>
                <a:latin typeface="+mj-lt"/>
              </a:rPr>
              <a:t> </a:t>
            </a:r>
            <a:r>
              <a:rPr lang="vi-VN" b="1" dirty="0">
                <a:solidFill>
                  <a:schemeClr val="bg1"/>
                </a:solidFill>
                <a:latin typeface="+mj-lt"/>
              </a:rPr>
              <a:t>TẠI THÀNH PHỐ HỒ CHÍ MINH</a:t>
            </a:r>
            <a:endParaRPr lang="vi-VN" b="1" dirty="0">
              <a:solidFill>
                <a:schemeClr val="bg1"/>
              </a:solidFill>
              <a:latin typeface="+mj-lt"/>
            </a:endParaRPr>
          </a:p>
        </p:txBody>
      </p:sp>
      <p:sp>
        <p:nvSpPr>
          <p:cNvPr id="7" name="Text Box 6"/>
          <p:cNvSpPr txBox="1"/>
          <p:nvPr/>
        </p:nvSpPr>
        <p:spPr>
          <a:xfrm>
            <a:off x="563245" y="1479550"/>
            <a:ext cx="4899025" cy="398780"/>
          </a:xfrm>
          <a:prstGeom prst="rect">
            <a:avLst/>
          </a:prstGeom>
          <a:noFill/>
        </p:spPr>
        <p:txBody>
          <a:bodyPr wrap="square" rtlCol="0">
            <a:spAutoFit/>
          </a:bodyPr>
          <a:p>
            <a:r>
              <a:rPr lang="vi-VN" altLang="en-US" sz="2000" b="1">
                <a:latin typeface="Times New Roman" panose="02020603050405020304" pitchFamily="18" charset="0"/>
                <a:cs typeface="Times New Roman" panose="02020603050405020304" pitchFamily="18" charset="0"/>
              </a:rPr>
              <a:t>II. NGÔN NGỮ, CÔNG </a:t>
            </a:r>
            <a:r>
              <a:rPr lang="vi-VN" altLang="en-US" sz="2000" b="1">
                <a:latin typeface="Times New Roman" panose="02020603050405020304" pitchFamily="18" charset="0"/>
                <a:cs typeface="Times New Roman" panose="02020603050405020304" pitchFamily="18" charset="0"/>
              </a:rPr>
              <a:t>NGHỆ SỬ DỤNG</a:t>
            </a:r>
            <a:endParaRPr lang="vi-VN" altLang="en-US" sz="2000" b="1">
              <a:latin typeface="Times New Roman" panose="02020603050405020304" pitchFamily="18" charset="0"/>
              <a:cs typeface="Times New Roman" panose="02020603050405020304" pitchFamily="18" charset="0"/>
            </a:endParaRPr>
          </a:p>
        </p:txBody>
      </p:sp>
      <p:pic>
        <p:nvPicPr>
          <p:cNvPr id="6" name="Picture 5"/>
          <p:cNvPicPr/>
          <p:nvPr/>
        </p:nvPicPr>
        <p:blipFill>
          <a:blip r:embed="rId1"/>
          <a:stretch>
            <a:fillRect/>
          </a:stretch>
        </p:blipFill>
        <p:spPr>
          <a:xfrm>
            <a:off x="789305" y="2499360"/>
            <a:ext cx="2252980" cy="2296160"/>
          </a:xfrm>
          <a:prstGeom prst="rect">
            <a:avLst/>
          </a:prstGeom>
        </p:spPr>
      </p:pic>
      <p:pic>
        <p:nvPicPr>
          <p:cNvPr id="9" name="Picture 8"/>
          <p:cNvPicPr/>
          <p:nvPr/>
        </p:nvPicPr>
        <p:blipFill>
          <a:blip r:embed="rId2"/>
          <a:stretch>
            <a:fillRect/>
          </a:stretch>
        </p:blipFill>
        <p:spPr>
          <a:xfrm>
            <a:off x="3400425" y="2402205"/>
            <a:ext cx="2602865" cy="2605405"/>
          </a:xfrm>
          <a:prstGeom prst="rect">
            <a:avLst/>
          </a:prstGeom>
        </p:spPr>
      </p:pic>
      <p:pic>
        <p:nvPicPr>
          <p:cNvPr id="8" name="Picture 7"/>
          <p:cNvPicPr/>
          <p:nvPr/>
        </p:nvPicPr>
        <p:blipFill>
          <a:blip r:embed="rId3"/>
          <a:stretch>
            <a:fillRect/>
          </a:stretch>
        </p:blipFill>
        <p:spPr>
          <a:xfrm>
            <a:off x="9525635" y="2881630"/>
            <a:ext cx="2186940" cy="1646555"/>
          </a:xfrm>
          <a:prstGeom prst="rect">
            <a:avLst/>
          </a:prstGeom>
        </p:spPr>
      </p:pic>
      <p:pic>
        <p:nvPicPr>
          <p:cNvPr id="10" name="Picture 9"/>
          <p:cNvPicPr/>
          <p:nvPr/>
        </p:nvPicPr>
        <p:blipFill>
          <a:blip r:embed="rId4"/>
          <a:stretch>
            <a:fillRect/>
          </a:stretch>
        </p:blipFill>
        <p:spPr>
          <a:xfrm>
            <a:off x="6490970" y="2614295"/>
            <a:ext cx="2401570" cy="21812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3C4FCFE7-4CFC-4698-A5C8-57D6C94FD847}" type="slidenum">
              <a:rPr lang="en-US" smtClean="0"/>
            </a:fld>
            <a:endParaRPr lang="en-US"/>
          </a:p>
        </p:txBody>
      </p:sp>
      <p:sp>
        <p:nvSpPr>
          <p:cNvPr id="3" name="TextBox 1"/>
          <p:cNvSpPr txBox="1"/>
          <p:nvPr/>
        </p:nvSpPr>
        <p:spPr>
          <a:xfrm>
            <a:off x="847725" y="356235"/>
            <a:ext cx="10103485" cy="368300"/>
          </a:xfrm>
          <a:prstGeom prst="rect">
            <a:avLst/>
          </a:prstGeom>
          <a:noFill/>
        </p:spPr>
        <p:txBody>
          <a:bodyPr wrap="square" rtlCol="0">
            <a:spAutoFit/>
          </a:bodyPr>
          <a:lstStyle/>
          <a:p>
            <a:pPr algn="ctr"/>
            <a:r>
              <a:rPr lang="vi-VN" b="1" dirty="0">
                <a:solidFill>
                  <a:schemeClr val="bg1"/>
                </a:solidFill>
                <a:latin typeface="+mj-lt"/>
              </a:rPr>
              <a:t>TRƯỜNG ĐẠI HỌC GIAO THÔNG VẬN TẢI PHÂN HIỆ</a:t>
            </a:r>
            <a:r>
              <a:rPr lang="en-US" altLang="vi-VN" b="1" dirty="0">
                <a:solidFill>
                  <a:schemeClr val="bg1"/>
                </a:solidFill>
                <a:latin typeface="+mj-lt"/>
              </a:rPr>
              <a:t>U</a:t>
            </a:r>
            <a:r>
              <a:rPr lang="vi-VN" b="1" dirty="0">
                <a:solidFill>
                  <a:schemeClr val="bg1"/>
                </a:solidFill>
                <a:latin typeface="+mj-lt"/>
              </a:rPr>
              <a:t> </a:t>
            </a:r>
            <a:r>
              <a:rPr lang="vi-VN" b="1" dirty="0">
                <a:solidFill>
                  <a:schemeClr val="bg1"/>
                </a:solidFill>
                <a:latin typeface="+mj-lt"/>
              </a:rPr>
              <a:t>TẠI THÀNH PHỐ HỒ CHÍ MINH</a:t>
            </a:r>
            <a:endParaRPr lang="vi-VN" b="1" dirty="0">
              <a:solidFill>
                <a:schemeClr val="bg1"/>
              </a:solidFill>
              <a:latin typeface="+mj-lt"/>
            </a:endParaRPr>
          </a:p>
        </p:txBody>
      </p:sp>
      <p:sp>
        <p:nvSpPr>
          <p:cNvPr id="7" name="Text Box 6"/>
          <p:cNvSpPr txBox="1"/>
          <p:nvPr/>
        </p:nvSpPr>
        <p:spPr>
          <a:xfrm>
            <a:off x="563245" y="1479550"/>
            <a:ext cx="5083810" cy="398780"/>
          </a:xfrm>
          <a:prstGeom prst="rect">
            <a:avLst/>
          </a:prstGeom>
          <a:noFill/>
        </p:spPr>
        <p:txBody>
          <a:bodyPr wrap="square" rtlCol="0">
            <a:spAutoFit/>
          </a:bodyPr>
          <a:p>
            <a:r>
              <a:rPr lang="vi-VN" altLang="en-US" sz="2000" b="1">
                <a:latin typeface="Times New Roman" panose="02020603050405020304" pitchFamily="18" charset="0"/>
                <a:cs typeface="Times New Roman" panose="02020603050405020304" pitchFamily="18" charset="0"/>
              </a:rPr>
              <a:t>I</a:t>
            </a:r>
            <a:r>
              <a:rPr lang="vi-VN" altLang="en-US" sz="2000" b="1">
                <a:latin typeface="Times New Roman" panose="02020603050405020304" pitchFamily="18" charset="0"/>
                <a:cs typeface="Times New Roman" panose="02020603050405020304" pitchFamily="18" charset="0"/>
              </a:rPr>
              <a:t>II. PHƯƠNG PHÁP TÓM TẮT VĂN </a:t>
            </a:r>
            <a:r>
              <a:rPr lang="vi-VN" altLang="en-US" sz="2000" b="1">
                <a:latin typeface="Times New Roman" panose="02020603050405020304" pitchFamily="18" charset="0"/>
                <a:cs typeface="Times New Roman" panose="02020603050405020304" pitchFamily="18" charset="0"/>
              </a:rPr>
              <a:t>BẢN</a:t>
            </a:r>
            <a:endParaRPr lang="vi-VN" altLang="en-US" sz="2000" b="1">
              <a:latin typeface="Times New Roman" panose="02020603050405020304" pitchFamily="18" charset="0"/>
              <a:cs typeface="Times New Roman" panose="02020603050405020304" pitchFamily="18" charset="0"/>
            </a:endParaRPr>
          </a:p>
        </p:txBody>
      </p:sp>
      <p:sp>
        <p:nvSpPr>
          <p:cNvPr id="8" name="Text Box 7"/>
          <p:cNvSpPr txBox="1"/>
          <p:nvPr/>
        </p:nvSpPr>
        <p:spPr>
          <a:xfrm>
            <a:off x="567055" y="1910080"/>
            <a:ext cx="5389245" cy="4446270"/>
          </a:xfrm>
          <a:prstGeom prst="rect">
            <a:avLst/>
          </a:prstGeom>
        </p:spPr>
        <p:txBody>
          <a:bodyPr>
            <a:noAutofit/>
          </a:bodyPr>
          <a:p>
            <a:pPr algn="ctr"/>
            <a:r>
              <a:rPr lang="en-US" altLang="en-US" b="1">
                <a:latin typeface="Times New Roman" panose="02020603050405020304" pitchFamily="18" charset="0"/>
                <a:cs typeface="Times New Roman" panose="02020603050405020304" pitchFamily="18" charset="0"/>
              </a:rPr>
              <a:t>T</a:t>
            </a:r>
            <a:r>
              <a:rPr lang="en-US" altLang="en-US" b="1">
                <a:latin typeface="Times New Roman" panose="02020603050405020304" pitchFamily="18" charset="0"/>
                <a:cs typeface="Times New Roman" panose="02020603050405020304" pitchFamily="18" charset="0"/>
              </a:rPr>
              <a:t>Ó</a:t>
            </a:r>
            <a:r>
              <a:rPr lang="en-US" altLang="en-US" b="1">
                <a:latin typeface="Times New Roman" panose="02020603050405020304" pitchFamily="18" charset="0"/>
                <a:cs typeface="Times New Roman" panose="02020603050405020304" pitchFamily="18" charset="0"/>
              </a:rPr>
              <a:t>M TẮT TR</a:t>
            </a:r>
            <a:r>
              <a:rPr lang="en-US" altLang="en-US" b="1">
                <a:latin typeface="Times New Roman" panose="02020603050405020304" pitchFamily="18" charset="0"/>
                <a:cs typeface="Times New Roman" panose="02020603050405020304" pitchFamily="18" charset="0"/>
              </a:rPr>
              <a:t>Í</a:t>
            </a:r>
            <a:r>
              <a:rPr lang="en-US" altLang="en-US" b="1">
                <a:latin typeface="Times New Roman" panose="02020603050405020304" pitchFamily="18" charset="0"/>
                <a:cs typeface="Times New Roman" panose="02020603050405020304" pitchFamily="18" charset="0"/>
              </a:rPr>
              <a:t>CH R</a:t>
            </a:r>
            <a:r>
              <a:rPr lang="en-US" altLang="en-US" b="1">
                <a:latin typeface="Times New Roman" panose="02020603050405020304" pitchFamily="18" charset="0"/>
                <a:cs typeface="Times New Roman" panose="02020603050405020304" pitchFamily="18" charset="0"/>
              </a:rPr>
              <a:t>Ú</a:t>
            </a:r>
            <a:r>
              <a:rPr lang="en-US" altLang="en-US" b="1">
                <a:latin typeface="Times New Roman" panose="02020603050405020304" pitchFamily="18" charset="0"/>
                <a:cs typeface="Times New Roman" panose="02020603050405020304" pitchFamily="18" charset="0"/>
              </a:rPr>
              <a:t>T</a:t>
            </a:r>
            <a:endParaRPr lang="en-US" altLang="en-US" b="1">
              <a:latin typeface="Times New Roman" panose="02020603050405020304" pitchFamily="18" charset="0"/>
              <a:cs typeface="Times New Roman" panose="02020603050405020304" pitchFamily="18" charset="0"/>
            </a:endParaRPr>
          </a:p>
          <a:p>
            <a:pPr algn="ctr"/>
            <a:endParaRPr lang="en-US" altLang="en-US" b="1">
              <a:latin typeface="Times New Roman" panose="02020603050405020304" pitchFamily="18" charset="0"/>
              <a:cs typeface="Times New Roman" panose="02020603050405020304" pitchFamily="18" charset="0"/>
            </a:endParaRPr>
          </a:p>
          <a:p>
            <a:pPr algn="just"/>
            <a:r>
              <a:rPr b="1">
                <a:latin typeface="Times New Roman" panose="02020603050405020304" pitchFamily="18" charset="0"/>
                <a:cs typeface="Times New Roman" panose="02020603050405020304" pitchFamily="18" charset="0"/>
              </a:rPr>
              <a:t>Cách hoạt động:</a:t>
            </a:r>
            <a:r>
              <a:rPr>
                <a:latin typeface="Times New Roman" panose="02020603050405020304" pitchFamily="18" charset="0"/>
                <a:cs typeface="Times New Roman" panose="02020603050405020304" pitchFamily="18" charset="0"/>
              </a:rPr>
              <a:t> Mô hình sẽ đánh giá điểm số hay trọng số của từng câu, từng từ trong văn bản gốc thông qua tần suất từ, vị trí câu, hoặc các thuật toán đồ thị. Sau đó, nó </a:t>
            </a:r>
            <a:r>
              <a:rPr lang="vi-VN">
                <a:latin typeface="Times New Roman" panose="02020603050405020304" pitchFamily="18" charset="0"/>
                <a:cs typeface="Times New Roman" panose="02020603050405020304" pitchFamily="18" charset="0"/>
              </a:rPr>
              <a:t>lấy</a:t>
            </a:r>
            <a:r>
              <a:rPr>
                <a:latin typeface="Times New Roman" panose="02020603050405020304" pitchFamily="18" charset="0"/>
                <a:cs typeface="Times New Roman" panose="02020603050405020304" pitchFamily="18" charset="0"/>
              </a:rPr>
              <a:t> nguyên văn các câu có điểm cao nhất và ghép lại thành bản tóm tắt.</a:t>
            </a:r>
            <a:endParaRPr>
              <a:latin typeface="Times New Roman" panose="02020603050405020304" pitchFamily="18" charset="0"/>
              <a:cs typeface="Times New Roman" panose="02020603050405020304" pitchFamily="18" charset="0"/>
            </a:endParaRPr>
          </a:p>
          <a:p>
            <a:pPr algn="just"/>
            <a:endParaRPr>
              <a:latin typeface="Times New Roman" panose="02020603050405020304" pitchFamily="18" charset="0"/>
              <a:cs typeface="Times New Roman" panose="02020603050405020304" pitchFamily="18" charset="0"/>
            </a:endParaRPr>
          </a:p>
          <a:p>
            <a:pPr algn="just"/>
            <a:r>
              <a:rPr b="1">
                <a:latin typeface="Times New Roman" panose="02020603050405020304" pitchFamily="18" charset="0"/>
                <a:cs typeface="Times New Roman" panose="02020603050405020304" pitchFamily="18" charset="0"/>
              </a:rPr>
              <a:t>Ưu điểm:</a:t>
            </a:r>
            <a:r>
              <a:rPr>
                <a:latin typeface="Times New Roman" panose="02020603050405020304" pitchFamily="18" charset="0"/>
                <a:cs typeface="Times New Roman" panose="02020603050405020304" pitchFamily="18" charset="0"/>
              </a:rPr>
              <a:t> Nhanh, nhẹ, dễ triển khai và đảm bảo tính chính xác tuyệt đối về mặt ngữ pháp</a:t>
            </a:r>
            <a:endParaRPr>
              <a:latin typeface="Times New Roman" panose="02020603050405020304" pitchFamily="18" charset="0"/>
              <a:cs typeface="Times New Roman" panose="02020603050405020304" pitchFamily="18" charset="0"/>
            </a:endParaRPr>
          </a:p>
          <a:p>
            <a:pPr algn="just"/>
            <a:endParaRPr>
              <a:latin typeface="Times New Roman" panose="02020603050405020304" pitchFamily="18" charset="0"/>
              <a:cs typeface="Times New Roman" panose="02020603050405020304" pitchFamily="18" charset="0"/>
            </a:endParaRPr>
          </a:p>
          <a:p>
            <a:pPr algn="just"/>
            <a:r>
              <a:rPr b="1">
                <a:latin typeface="Times New Roman" panose="02020603050405020304" pitchFamily="18" charset="0"/>
                <a:cs typeface="Times New Roman" panose="02020603050405020304" pitchFamily="18" charset="0"/>
              </a:rPr>
              <a:t>Nhược điểm:</a:t>
            </a:r>
            <a:r>
              <a:rPr>
                <a:latin typeface="Times New Roman" panose="02020603050405020304" pitchFamily="18" charset="0"/>
                <a:cs typeface="Times New Roman" panose="02020603050405020304" pitchFamily="18" charset="0"/>
              </a:rPr>
              <a:t> Thiếu tự nhiên. Đoạn tóm tắt thường bị rời rạc, lặp từ, hoặc đứt gãy về mặt ngữ cảnh do các câu được chắp vá lại với nhau.</a:t>
            </a:r>
            <a:endParaRPr>
              <a:latin typeface="Times New Roman" panose="02020603050405020304" pitchFamily="18" charset="0"/>
              <a:cs typeface="Times New Roman" panose="02020603050405020304" pitchFamily="18" charset="0"/>
            </a:endParaRPr>
          </a:p>
        </p:txBody>
      </p:sp>
      <p:sp>
        <p:nvSpPr>
          <p:cNvPr id="9" name="Text Box 8"/>
          <p:cNvSpPr txBox="1"/>
          <p:nvPr/>
        </p:nvSpPr>
        <p:spPr>
          <a:xfrm>
            <a:off x="5956300" y="1910080"/>
            <a:ext cx="5469890" cy="4445635"/>
          </a:xfrm>
          <a:prstGeom prst="rect">
            <a:avLst/>
          </a:prstGeom>
        </p:spPr>
        <p:txBody>
          <a:bodyPr>
            <a:noAutofit/>
          </a:bodyPr>
          <a:p>
            <a:pPr algn="ctr"/>
            <a:r>
              <a:rPr lang="en-US" altLang="en-US" b="1">
                <a:latin typeface="Times New Roman" panose="02020603050405020304" pitchFamily="18" charset="0"/>
                <a:cs typeface="Times New Roman" panose="02020603050405020304" pitchFamily="18" charset="0"/>
              </a:rPr>
              <a:t>T</a:t>
            </a:r>
            <a:r>
              <a:rPr lang="en-US" altLang="en-US" b="1">
                <a:latin typeface="Times New Roman" panose="02020603050405020304" pitchFamily="18" charset="0"/>
                <a:cs typeface="Times New Roman" panose="02020603050405020304" pitchFamily="18" charset="0"/>
              </a:rPr>
              <a:t>Ó</a:t>
            </a:r>
            <a:r>
              <a:rPr lang="en-US" altLang="en-US" b="1">
                <a:latin typeface="Times New Roman" panose="02020603050405020304" pitchFamily="18" charset="0"/>
                <a:cs typeface="Times New Roman" panose="02020603050405020304" pitchFamily="18" charset="0"/>
              </a:rPr>
              <a:t>M TẮT DIỄN GIẢI</a:t>
            </a:r>
            <a:endParaRPr lang="en-US" altLang="en-US" b="1">
              <a:latin typeface="Times New Roman" panose="02020603050405020304" pitchFamily="18" charset="0"/>
              <a:cs typeface="Times New Roman" panose="02020603050405020304" pitchFamily="18" charset="0"/>
            </a:endParaRPr>
          </a:p>
          <a:p>
            <a:pPr algn="ctr"/>
            <a:endParaRPr lang="en-US" altLang="en-US" b="1">
              <a:latin typeface="Times New Roman" panose="02020603050405020304" pitchFamily="18" charset="0"/>
              <a:cs typeface="Times New Roman" panose="02020603050405020304" pitchFamily="18" charset="0"/>
            </a:endParaRPr>
          </a:p>
          <a:p>
            <a:pPr algn="just"/>
            <a:r>
              <a:rPr b="1">
                <a:latin typeface="Times New Roman" panose="02020603050405020304" pitchFamily="18" charset="0"/>
                <a:cs typeface="Times New Roman" panose="02020603050405020304" pitchFamily="18" charset="0"/>
              </a:rPr>
              <a:t>Cách hoạt động:</a:t>
            </a:r>
            <a:r>
              <a:rPr>
                <a:latin typeface="Times New Roman" panose="02020603050405020304" pitchFamily="18" charset="0"/>
                <a:cs typeface="Times New Roman" panose="02020603050405020304" pitchFamily="18" charset="0"/>
              </a:rPr>
              <a:t> Các mô hình học sâu tiên tiến sẽ đọc, </a:t>
            </a:r>
            <a:r>
              <a:rPr lang="vi-VN">
                <a:latin typeface="Times New Roman" panose="02020603050405020304" pitchFamily="18" charset="0"/>
                <a:cs typeface="Times New Roman" panose="02020603050405020304" pitchFamily="18" charset="0"/>
              </a:rPr>
              <a:t>“</a:t>
            </a:r>
            <a:r>
              <a:rPr>
                <a:latin typeface="Times New Roman" panose="02020603050405020304" pitchFamily="18" charset="0"/>
                <a:cs typeface="Times New Roman" panose="02020603050405020304" pitchFamily="18" charset="0"/>
              </a:rPr>
              <a:t>hiểu</a:t>
            </a:r>
            <a:r>
              <a:rPr lang="vi-VN">
                <a:latin typeface="Times New Roman" panose="02020603050405020304" pitchFamily="18" charset="0"/>
                <a:cs typeface="Times New Roman" panose="02020603050405020304" pitchFamily="18" charset="0"/>
              </a:rPr>
              <a:t>”</a:t>
            </a:r>
            <a:r>
              <a:rPr>
                <a:latin typeface="Times New Roman" panose="02020603050405020304" pitchFamily="18" charset="0"/>
                <a:cs typeface="Times New Roman" panose="02020603050405020304" pitchFamily="18" charset="0"/>
              </a:rPr>
              <a:t> ngữ nghĩa của toàn bộ văn bản gốc, sau đó sinh ra các câu từ hoàn toàn mới để truyền đạt lại ý chính. Các từ ngữ trong bản tóm tắt có thể không hề xuất hiện trong văn bản gốc.</a:t>
            </a:r>
            <a:endParaRPr>
              <a:latin typeface="Times New Roman" panose="02020603050405020304" pitchFamily="18" charset="0"/>
              <a:cs typeface="Times New Roman" panose="02020603050405020304" pitchFamily="18" charset="0"/>
            </a:endParaRPr>
          </a:p>
          <a:p>
            <a:pPr algn="just"/>
            <a:endParaRPr>
              <a:latin typeface="Times New Roman" panose="02020603050405020304" pitchFamily="18" charset="0"/>
              <a:cs typeface="Times New Roman" panose="02020603050405020304" pitchFamily="18" charset="0"/>
            </a:endParaRPr>
          </a:p>
          <a:p>
            <a:pPr algn="just"/>
            <a:r>
              <a:rPr b="1">
                <a:latin typeface="Times New Roman" panose="02020603050405020304" pitchFamily="18" charset="0"/>
                <a:cs typeface="Times New Roman" panose="02020603050405020304" pitchFamily="18" charset="0"/>
              </a:rPr>
              <a:t>Ưu điểm:</a:t>
            </a:r>
            <a:r>
              <a:rPr>
                <a:latin typeface="Times New Roman" panose="02020603050405020304" pitchFamily="18" charset="0"/>
                <a:cs typeface="Times New Roman" panose="02020603050405020304" pitchFamily="18" charset="0"/>
              </a:rPr>
              <a:t> Bản tóm tắt mượt mà, tự nhiên, ngắn gọn và giống con người viết nhất. </a:t>
            </a:r>
            <a:endParaRPr>
              <a:latin typeface="Times New Roman" panose="02020603050405020304" pitchFamily="18" charset="0"/>
              <a:cs typeface="Times New Roman" panose="02020603050405020304" pitchFamily="18" charset="0"/>
            </a:endParaRPr>
          </a:p>
          <a:p>
            <a:pPr algn="just"/>
            <a:endParaRPr>
              <a:latin typeface="Times New Roman" panose="02020603050405020304" pitchFamily="18" charset="0"/>
              <a:cs typeface="Times New Roman" panose="02020603050405020304" pitchFamily="18" charset="0"/>
            </a:endParaRPr>
          </a:p>
          <a:p>
            <a:pPr algn="just"/>
            <a:r>
              <a:rPr b="1">
                <a:latin typeface="Times New Roman" panose="02020603050405020304" pitchFamily="18" charset="0"/>
                <a:cs typeface="Times New Roman" panose="02020603050405020304" pitchFamily="18" charset="0"/>
              </a:rPr>
              <a:t>Nhược điểm:</a:t>
            </a:r>
            <a:r>
              <a:rPr>
                <a:latin typeface="Times New Roman" panose="02020603050405020304" pitchFamily="18" charset="0"/>
                <a:cs typeface="Times New Roman" panose="02020603050405020304" pitchFamily="18" charset="0"/>
              </a:rPr>
              <a:t> Đòi hỏi tài nguyên tính toán phần cứng lớn, tốc độ chậm hơn và có rủi ro sinh ra thông tin sai lệch hoặc hiểu sai ý tác giả.</a:t>
            </a: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3C4FCFE7-4CFC-4698-A5C8-57D6C94FD847}" type="slidenum">
              <a:rPr lang="en-US" smtClean="0"/>
            </a:fld>
            <a:endParaRPr lang="en-US"/>
          </a:p>
        </p:txBody>
      </p:sp>
      <p:sp>
        <p:nvSpPr>
          <p:cNvPr id="3" name="TextBox 1"/>
          <p:cNvSpPr txBox="1"/>
          <p:nvPr/>
        </p:nvSpPr>
        <p:spPr>
          <a:xfrm>
            <a:off x="847725" y="356235"/>
            <a:ext cx="10103485" cy="368300"/>
          </a:xfrm>
          <a:prstGeom prst="rect">
            <a:avLst/>
          </a:prstGeom>
          <a:noFill/>
        </p:spPr>
        <p:txBody>
          <a:bodyPr wrap="square" rtlCol="0">
            <a:spAutoFit/>
          </a:bodyPr>
          <a:lstStyle/>
          <a:p>
            <a:pPr algn="ctr"/>
            <a:r>
              <a:rPr lang="vi-VN" b="1" dirty="0">
                <a:solidFill>
                  <a:schemeClr val="bg1"/>
                </a:solidFill>
                <a:latin typeface="+mj-lt"/>
              </a:rPr>
              <a:t>TRƯỜNG ĐẠI HỌC GIAO THÔNG VẬN TẢI PHÂN HIỆ</a:t>
            </a:r>
            <a:r>
              <a:rPr lang="en-US" altLang="vi-VN" b="1" dirty="0">
                <a:solidFill>
                  <a:schemeClr val="bg1"/>
                </a:solidFill>
                <a:latin typeface="+mj-lt"/>
              </a:rPr>
              <a:t>U</a:t>
            </a:r>
            <a:r>
              <a:rPr lang="vi-VN" b="1" dirty="0">
                <a:solidFill>
                  <a:schemeClr val="bg1"/>
                </a:solidFill>
                <a:latin typeface="+mj-lt"/>
              </a:rPr>
              <a:t> </a:t>
            </a:r>
            <a:r>
              <a:rPr lang="vi-VN" b="1" dirty="0">
                <a:solidFill>
                  <a:schemeClr val="bg1"/>
                </a:solidFill>
                <a:latin typeface="+mj-lt"/>
              </a:rPr>
              <a:t>TẠI THÀNH PHỐ HỒ CHÍ MINH</a:t>
            </a:r>
            <a:endParaRPr lang="vi-VN" b="1" dirty="0">
              <a:solidFill>
                <a:schemeClr val="bg1"/>
              </a:solidFill>
              <a:latin typeface="+mj-lt"/>
            </a:endParaRPr>
          </a:p>
        </p:txBody>
      </p:sp>
      <p:sp>
        <p:nvSpPr>
          <p:cNvPr id="5" name="Text Box 4"/>
          <p:cNvSpPr txBox="1"/>
          <p:nvPr/>
        </p:nvSpPr>
        <p:spPr>
          <a:xfrm>
            <a:off x="563245" y="1479550"/>
            <a:ext cx="5083810" cy="398780"/>
          </a:xfrm>
          <a:prstGeom prst="rect">
            <a:avLst/>
          </a:prstGeom>
          <a:noFill/>
        </p:spPr>
        <p:txBody>
          <a:bodyPr wrap="square" rtlCol="0">
            <a:spAutoFit/>
          </a:bodyPr>
          <a:p>
            <a:r>
              <a:rPr lang="en-US" altLang="en-US" sz="2000" b="1">
                <a:latin typeface="Times New Roman" panose="02020603050405020304" pitchFamily="18" charset="0"/>
                <a:cs typeface="Times New Roman" panose="02020603050405020304" pitchFamily="18" charset="0"/>
                <a:sym typeface="+mn-ea"/>
              </a:rPr>
              <a:t>TÓM TẮT LAI HYBRID</a:t>
            </a:r>
            <a:endParaRPr lang="vi-VN" altLang="en-US" sz="2000" b="1">
              <a:latin typeface="Times New Roman" panose="02020603050405020304" pitchFamily="18" charset="0"/>
              <a:cs typeface="Times New Roman" panose="02020603050405020304" pitchFamily="18" charset="0"/>
            </a:endParaRPr>
          </a:p>
        </p:txBody>
      </p:sp>
      <p:sp>
        <p:nvSpPr>
          <p:cNvPr id="6" name="Text Box 5"/>
          <p:cNvSpPr txBox="1"/>
          <p:nvPr/>
        </p:nvSpPr>
        <p:spPr>
          <a:xfrm>
            <a:off x="880110" y="2001520"/>
            <a:ext cx="9535795" cy="3960495"/>
          </a:xfrm>
          <a:prstGeom prst="rect">
            <a:avLst/>
          </a:prstGeom>
          <a:noFill/>
        </p:spPr>
        <p:txBody>
          <a:bodyPr wrap="square" rtlCol="0">
            <a:noAutofit/>
          </a:bodyPr>
          <a:p>
            <a:pPr algn="just"/>
            <a:r>
              <a:rPr lang="vi-VN" altLang="en-US" b="1">
                <a:latin typeface="Times New Roman" panose="02020603050405020304" pitchFamily="18" charset="0"/>
                <a:cs typeface="Times New Roman" panose="02020603050405020304" pitchFamily="18" charset="0"/>
              </a:rPr>
              <a:t>1. </a:t>
            </a:r>
            <a:r>
              <a:rPr lang="en-US" altLang="en-US" b="1">
                <a:latin typeface="Times New Roman" panose="02020603050405020304" pitchFamily="18" charset="0"/>
                <a:cs typeface="Times New Roman" panose="02020603050405020304" pitchFamily="18" charset="0"/>
              </a:rPr>
              <a:t>Cách hoạt </a:t>
            </a:r>
            <a:r>
              <a:rPr lang="en-US" altLang="en-US" b="1">
                <a:latin typeface="Times New Roman" panose="02020603050405020304" pitchFamily="18" charset="0"/>
                <a:cs typeface="Times New Roman" panose="02020603050405020304" pitchFamily="18" charset="0"/>
              </a:rPr>
              <a:t>đ</a:t>
            </a:r>
            <a:r>
              <a:rPr lang="en-US" altLang="en-US" b="1">
                <a:latin typeface="Times New Roman" panose="02020603050405020304" pitchFamily="18" charset="0"/>
                <a:cs typeface="Times New Roman" panose="02020603050405020304" pitchFamily="18" charset="0"/>
              </a:rPr>
              <a:t>ộng:</a:t>
            </a:r>
            <a:r>
              <a:rPr lang="en-US" altLang="en-US">
                <a:latin typeface="Times New Roman" panose="02020603050405020304" pitchFamily="18" charset="0"/>
                <a:cs typeface="Times New Roman" panose="02020603050405020304" pitchFamily="18" charset="0"/>
              </a:rPr>
              <a:t> Th</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ờng trải qua quy trình 2 b</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ớc:</a:t>
            </a:r>
            <a:endParaRPr lang="en-US" altLang="en-US">
              <a:latin typeface="Times New Roman" panose="02020603050405020304" pitchFamily="18" charset="0"/>
              <a:cs typeface="Times New Roman" panose="02020603050405020304" pitchFamily="18" charset="0"/>
            </a:endParaRPr>
          </a:p>
          <a:p>
            <a:pPr algn="just"/>
            <a:endParaRPr lang="en-US" altLang="en-US">
              <a:latin typeface="Times New Roman" panose="02020603050405020304" pitchFamily="18" charset="0"/>
              <a:cs typeface="Times New Roman" panose="02020603050405020304" pitchFamily="18" charset="0"/>
            </a:endParaRPr>
          </a:p>
          <a:p>
            <a:pPr marL="742950" lvl="1" indent="-285750" algn="just">
              <a:buFont typeface="Wingdings" panose="05000000000000000000" charset="0"/>
              <a:buChar char="Ø"/>
            </a:pPr>
            <a:r>
              <a:rPr lang="en-US" altLang="en-US">
                <a:latin typeface="Times New Roman" panose="02020603050405020304" pitchFamily="18" charset="0"/>
                <a:cs typeface="Times New Roman" panose="02020603050405020304" pitchFamily="18" charset="0"/>
              </a:rPr>
              <a:t>B</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ớc Extractive: Mô hình xác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ịnh và trích xuất các câu hoặc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oạn quan trọng nhất từ một v</a:t>
            </a:r>
            <a:r>
              <a:rPr lang="en-US" altLang="en-US">
                <a:latin typeface="Times New Roman" panose="02020603050405020304" pitchFamily="18" charset="0"/>
                <a:cs typeface="Times New Roman" panose="02020603050405020304" pitchFamily="18" charset="0"/>
              </a:rPr>
              <a:t>ă</a:t>
            </a:r>
            <a:r>
              <a:rPr lang="en-US" altLang="en-US">
                <a:latin typeface="Times New Roman" panose="02020603050405020304" pitchFamily="18" charset="0"/>
                <a:cs typeface="Times New Roman" panose="02020603050405020304" pitchFamily="18" charset="0"/>
              </a:rPr>
              <a:t>n bản rất dài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ể thu hẹp phạm vi.</a:t>
            </a:r>
            <a:endParaRPr lang="en-US" altLang="en-US">
              <a:latin typeface="Times New Roman" panose="02020603050405020304" pitchFamily="18" charset="0"/>
              <a:cs typeface="Times New Roman" panose="02020603050405020304" pitchFamily="18" charset="0"/>
            </a:endParaRPr>
          </a:p>
          <a:p>
            <a:pPr indent="0" algn="just">
              <a:buFont typeface="Wingdings" panose="05000000000000000000" charset="0"/>
              <a:buNone/>
            </a:pPr>
            <a:endParaRPr lang="en-US" altLang="en-US">
              <a:latin typeface="Times New Roman" panose="02020603050405020304" pitchFamily="18" charset="0"/>
              <a:cs typeface="Times New Roman" panose="02020603050405020304" pitchFamily="18" charset="0"/>
            </a:endParaRPr>
          </a:p>
          <a:p>
            <a:pPr marL="742950" lvl="1" indent="-285750" algn="just">
              <a:buFont typeface="Wingdings" panose="05000000000000000000" charset="0"/>
              <a:buChar char="Ø"/>
            </a:pPr>
            <a:r>
              <a:rPr lang="en-US" altLang="en-US">
                <a:latin typeface="Times New Roman" panose="02020603050405020304" pitchFamily="18" charset="0"/>
                <a:cs typeface="Times New Roman" panose="02020603050405020304" pitchFamily="18" charset="0"/>
              </a:rPr>
              <a:t>B</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ớc Abstractive: Mô hình trừu t</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ợng hóa sẽ nhận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ầu vào là các câu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ã </a:t>
            </a:r>
            <a:r>
              <a:rPr lang="en-US" altLang="en-US">
                <a:latin typeface="Times New Roman" panose="02020603050405020304" pitchFamily="18" charset="0"/>
                <a:cs typeface="Times New Roman" panose="02020603050405020304" pitchFamily="18" charset="0"/>
              </a:rPr>
              <a:t>đư</a:t>
            </a:r>
            <a:r>
              <a:rPr lang="en-US" altLang="en-US">
                <a:latin typeface="Times New Roman" panose="02020603050405020304" pitchFamily="18" charset="0"/>
                <a:cs typeface="Times New Roman" panose="02020603050405020304" pitchFamily="18" charset="0"/>
              </a:rPr>
              <a:t>ợc chọn lọc ở b</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ớc 1, sau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ó viết lại chúng thành một bản tóm tắt m</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ợt mà và liền mạch.</a:t>
            </a:r>
            <a:endParaRPr lang="en-US" altLang="en-US">
              <a:latin typeface="Times New Roman" panose="02020603050405020304" pitchFamily="18" charset="0"/>
              <a:cs typeface="Times New Roman" panose="02020603050405020304" pitchFamily="18" charset="0"/>
            </a:endParaRPr>
          </a:p>
          <a:p>
            <a:pPr algn="just"/>
            <a:endParaRPr lang="en-US" altLang="en-US">
              <a:latin typeface="Times New Roman" panose="02020603050405020304" pitchFamily="18" charset="0"/>
              <a:cs typeface="Times New Roman" panose="02020603050405020304" pitchFamily="18" charset="0"/>
            </a:endParaRPr>
          </a:p>
          <a:p>
            <a:pPr algn="just"/>
            <a:r>
              <a:rPr lang="vi-VN" b="1">
                <a:latin typeface="Times New Roman" panose="02020603050405020304" pitchFamily="18" charset="0"/>
                <a:cs typeface="Times New Roman" panose="02020603050405020304" pitchFamily="18" charset="0"/>
              </a:rPr>
              <a:t>2. </a:t>
            </a:r>
            <a:r>
              <a:rPr lang="en-US" altLang="en-US" b="1">
                <a:latin typeface="Times New Roman" panose="02020603050405020304" pitchFamily="18" charset="0"/>
                <a:cs typeface="Times New Roman" panose="02020603050405020304" pitchFamily="18" charset="0"/>
              </a:rPr>
              <a:t>Ư</a:t>
            </a:r>
            <a:r>
              <a:rPr lang="en-US" altLang="en-US" b="1">
                <a:latin typeface="Times New Roman" panose="02020603050405020304" pitchFamily="18" charset="0"/>
                <a:cs typeface="Times New Roman" panose="02020603050405020304" pitchFamily="18" charset="0"/>
              </a:rPr>
              <a:t>u </a:t>
            </a:r>
            <a:r>
              <a:rPr lang="en-US" altLang="en-US" b="1">
                <a:latin typeface="Times New Roman" panose="02020603050405020304" pitchFamily="18" charset="0"/>
                <a:cs typeface="Times New Roman" panose="02020603050405020304" pitchFamily="18" charset="0"/>
              </a:rPr>
              <a:t>đ</a:t>
            </a:r>
            <a:r>
              <a:rPr lang="en-US" altLang="en-US" b="1">
                <a:latin typeface="Times New Roman" panose="02020603050405020304" pitchFamily="18" charset="0"/>
                <a:cs typeface="Times New Roman" panose="02020603050405020304" pitchFamily="18" charset="0"/>
              </a:rPr>
              <a:t>iểm:</a:t>
            </a:r>
            <a:r>
              <a:rPr lang="en-US" altLang="en-US">
                <a:latin typeface="Times New Roman" panose="02020603050405020304" pitchFamily="18" charset="0"/>
                <a:cs typeface="Times New Roman" panose="02020603050405020304" pitchFamily="18" charset="0"/>
              </a:rPr>
              <a:t> Giải quyết </a:t>
            </a:r>
            <a:r>
              <a:rPr lang="en-US" altLang="en-US">
                <a:latin typeface="Times New Roman" panose="02020603050405020304" pitchFamily="18" charset="0"/>
                <a:cs typeface="Times New Roman" panose="02020603050405020304" pitchFamily="18" charset="0"/>
              </a:rPr>
              <a:t>đư</a:t>
            </a:r>
            <a:r>
              <a:rPr lang="en-US" altLang="en-US">
                <a:latin typeface="Times New Roman" panose="02020603050405020304" pitchFamily="18" charset="0"/>
                <a:cs typeface="Times New Roman" panose="02020603050405020304" pitchFamily="18" charset="0"/>
              </a:rPr>
              <a:t>ợc bài toán tóm tắt các tài liệu dài nh</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 sách, báo cáo tài chính mà các mô hình Abstractive thuần túy không thể xử l</a:t>
            </a:r>
            <a:r>
              <a:rPr lang="en-US" altLang="en-US">
                <a:latin typeface="Times New Roman" panose="02020603050405020304" pitchFamily="18" charset="0"/>
                <a:cs typeface="Times New Roman" panose="02020603050405020304" pitchFamily="18" charset="0"/>
              </a:rPr>
              <a:t>ý</a:t>
            </a:r>
            <a:r>
              <a:rPr lang="en-US" altLang="en-US">
                <a:latin typeface="Times New Roman" panose="02020603050405020304" pitchFamily="18" charset="0"/>
                <a:cs typeface="Times New Roman" panose="02020603050405020304" pitchFamily="18" charset="0"/>
              </a:rPr>
              <a:t> do giới hạn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ộ dài ngữ cảnh.</a:t>
            </a:r>
            <a:endParaRPr lang="en-US" altLang="en-US">
              <a:latin typeface="Times New Roman" panose="02020603050405020304" pitchFamily="18" charset="0"/>
              <a:cs typeface="Times New Roman" panose="02020603050405020304" pitchFamily="18" charset="0"/>
            </a:endParaRPr>
          </a:p>
          <a:p>
            <a:pPr algn="just"/>
            <a:endParaRPr lang="en-US" altLang="en-US">
              <a:latin typeface="Times New Roman" panose="02020603050405020304" pitchFamily="18" charset="0"/>
              <a:cs typeface="Times New Roman" panose="02020603050405020304" pitchFamily="18" charset="0"/>
            </a:endParaRPr>
          </a:p>
          <a:p>
            <a:pPr algn="just"/>
            <a:r>
              <a:rPr lang="vi-VN" altLang="en-US" b="1">
                <a:latin typeface="Times New Roman" panose="02020603050405020304" pitchFamily="18" charset="0"/>
                <a:cs typeface="Times New Roman" panose="02020603050405020304" pitchFamily="18" charset="0"/>
              </a:rPr>
              <a:t>3. </a:t>
            </a:r>
            <a:r>
              <a:rPr lang="en-US" altLang="en-US" b="1">
                <a:latin typeface="Times New Roman" panose="02020603050405020304" pitchFamily="18" charset="0"/>
                <a:cs typeface="Times New Roman" panose="02020603050405020304" pitchFamily="18" charset="0"/>
              </a:rPr>
              <a:t>Nh</a:t>
            </a:r>
            <a:r>
              <a:rPr lang="en-US" altLang="en-US" b="1">
                <a:latin typeface="Times New Roman" panose="02020603050405020304" pitchFamily="18" charset="0"/>
                <a:cs typeface="Times New Roman" panose="02020603050405020304" pitchFamily="18" charset="0"/>
              </a:rPr>
              <a:t>ư</a:t>
            </a:r>
            <a:r>
              <a:rPr lang="en-US" altLang="en-US" b="1">
                <a:latin typeface="Times New Roman" panose="02020603050405020304" pitchFamily="18" charset="0"/>
                <a:cs typeface="Times New Roman" panose="02020603050405020304" pitchFamily="18" charset="0"/>
              </a:rPr>
              <a:t>ợc </a:t>
            </a:r>
            <a:r>
              <a:rPr lang="en-US" altLang="en-US" b="1">
                <a:latin typeface="Times New Roman" panose="02020603050405020304" pitchFamily="18" charset="0"/>
                <a:cs typeface="Times New Roman" panose="02020603050405020304" pitchFamily="18" charset="0"/>
              </a:rPr>
              <a:t>đ</a:t>
            </a:r>
            <a:r>
              <a:rPr lang="en-US" altLang="en-US" b="1">
                <a:latin typeface="Times New Roman" panose="02020603050405020304" pitchFamily="18" charset="0"/>
                <a:cs typeface="Times New Roman" panose="02020603050405020304" pitchFamily="18" charset="0"/>
              </a:rPr>
              <a:t>iểm:</a:t>
            </a:r>
            <a:r>
              <a:rPr lang="en-US"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ộ phức tạp hệ thống cao, yêu cầu thiết kế pipeline kỹ l</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ỡng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ể hai mô hình phối hợp tốt với nhau.</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Slide Number Placeholder 1"/>
          <p:cNvSpPr>
            <a:spLocks noGrp="1"/>
          </p:cNvSpPr>
          <p:nvPr>
            <p:ph type="sldNum" sz="quarter" idx="12"/>
          </p:nvPr>
        </p:nvSpPr>
        <p:spPr/>
        <p:txBody>
          <a:bodyPr/>
          <a:p>
            <a:fld id="{3C4FCFE7-4CFC-4698-A5C8-57D6C94FD847}" type="slidenum">
              <a:rPr lang="en-US" smtClean="0"/>
            </a:fld>
            <a:endParaRPr lang="en-US"/>
          </a:p>
        </p:txBody>
      </p:sp>
      <p:sp>
        <p:nvSpPr>
          <p:cNvPr id="3" name="TextBox 1"/>
          <p:cNvSpPr txBox="1"/>
          <p:nvPr/>
        </p:nvSpPr>
        <p:spPr>
          <a:xfrm>
            <a:off x="847725" y="356235"/>
            <a:ext cx="10103485" cy="368300"/>
          </a:xfrm>
          <a:prstGeom prst="rect">
            <a:avLst/>
          </a:prstGeom>
          <a:noFill/>
        </p:spPr>
        <p:txBody>
          <a:bodyPr wrap="square" rtlCol="0">
            <a:spAutoFit/>
          </a:bodyPr>
          <a:lstStyle/>
          <a:p>
            <a:pPr algn="ctr"/>
            <a:r>
              <a:rPr lang="vi-VN" b="1" dirty="0">
                <a:solidFill>
                  <a:schemeClr val="bg1"/>
                </a:solidFill>
                <a:latin typeface="+mj-lt"/>
              </a:rPr>
              <a:t>TRƯỜNG ĐẠI HỌC GIAO THÔNG VẬN TẢI PHÂN HIỆ</a:t>
            </a:r>
            <a:r>
              <a:rPr lang="en-US" altLang="vi-VN" b="1" dirty="0">
                <a:solidFill>
                  <a:schemeClr val="bg1"/>
                </a:solidFill>
                <a:latin typeface="+mj-lt"/>
              </a:rPr>
              <a:t>U</a:t>
            </a:r>
            <a:r>
              <a:rPr lang="vi-VN" b="1" dirty="0">
                <a:solidFill>
                  <a:schemeClr val="bg1"/>
                </a:solidFill>
                <a:latin typeface="+mj-lt"/>
              </a:rPr>
              <a:t> </a:t>
            </a:r>
            <a:r>
              <a:rPr lang="vi-VN" b="1" dirty="0">
                <a:solidFill>
                  <a:schemeClr val="bg1"/>
                </a:solidFill>
                <a:latin typeface="+mj-lt"/>
              </a:rPr>
              <a:t>TẠI THÀNH PHỐ HỒ CHÍ MINH</a:t>
            </a:r>
            <a:endParaRPr lang="vi-VN" b="1" dirty="0">
              <a:solidFill>
                <a:schemeClr val="bg1"/>
              </a:solidFill>
              <a:latin typeface="+mj-lt"/>
            </a:endParaRPr>
          </a:p>
        </p:txBody>
      </p:sp>
      <p:sp>
        <p:nvSpPr>
          <p:cNvPr id="5" name="Text Box 4"/>
          <p:cNvSpPr txBox="1"/>
          <p:nvPr/>
        </p:nvSpPr>
        <p:spPr>
          <a:xfrm>
            <a:off x="563245" y="1479550"/>
            <a:ext cx="5083810" cy="398780"/>
          </a:xfrm>
          <a:prstGeom prst="rect">
            <a:avLst/>
          </a:prstGeom>
          <a:noFill/>
        </p:spPr>
        <p:txBody>
          <a:bodyPr wrap="square" rtlCol="0">
            <a:spAutoFit/>
          </a:bodyPr>
          <a:p>
            <a:r>
              <a:rPr lang="vi-VN" altLang="en-US" sz="2000" b="1">
                <a:latin typeface="Times New Roman" panose="02020603050405020304" pitchFamily="18" charset="0"/>
                <a:cs typeface="Times New Roman" panose="02020603050405020304" pitchFamily="18" charset="0"/>
                <a:sym typeface="+mn-ea"/>
              </a:rPr>
              <a:t>IV. QUY TRÌNH HOẠT </a:t>
            </a:r>
            <a:r>
              <a:rPr lang="vi-VN" altLang="en-US" sz="2000" b="1">
                <a:latin typeface="Times New Roman" panose="02020603050405020304" pitchFamily="18" charset="0"/>
                <a:cs typeface="Times New Roman" panose="02020603050405020304" pitchFamily="18" charset="0"/>
                <a:sym typeface="+mn-ea"/>
              </a:rPr>
              <a:t>ĐỘNG</a:t>
            </a:r>
            <a:endParaRPr lang="vi-VN" altLang="en-US" sz="2000" b="1">
              <a:latin typeface="Times New Roman" panose="02020603050405020304" pitchFamily="18" charset="0"/>
              <a:cs typeface="Times New Roman" panose="02020603050405020304" pitchFamily="18" charset="0"/>
              <a:sym typeface="+mn-ea"/>
            </a:endParaRPr>
          </a:p>
        </p:txBody>
      </p:sp>
      <p:pic>
        <p:nvPicPr>
          <p:cNvPr id="9" name="Picture 8" descr="Gemini_Generated_Image_nc4mcjnc4mcjnc4m (1)"/>
          <p:cNvPicPr>
            <a:picLocks noChangeAspect="1"/>
          </p:cNvPicPr>
          <p:nvPr/>
        </p:nvPicPr>
        <p:blipFill>
          <a:blip r:embed="rId2"/>
          <a:stretch>
            <a:fillRect/>
          </a:stretch>
        </p:blipFill>
        <p:spPr>
          <a:xfrm>
            <a:off x="950595" y="1981200"/>
            <a:ext cx="9897745" cy="37052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3C4FCFE7-4CFC-4698-A5C8-57D6C94FD847}" type="slidenum">
              <a:rPr lang="en-US" smtClean="0"/>
            </a:fld>
            <a:endParaRPr lang="en-US"/>
          </a:p>
        </p:txBody>
      </p:sp>
      <p:graphicFrame>
        <p:nvGraphicFramePr>
          <p:cNvPr id="9" name="Table 8"/>
          <p:cNvGraphicFramePr/>
          <p:nvPr/>
        </p:nvGraphicFramePr>
        <p:xfrm>
          <a:off x="847725" y="2070100"/>
          <a:ext cx="10095230" cy="3116580"/>
        </p:xfrm>
        <a:graphic>
          <a:graphicData uri="http://schemas.openxmlformats.org/drawingml/2006/table">
            <a:tbl>
              <a:tblPr firstRow="1">
                <a:tableStyleId>{C08B81D6-F261-4BD1-8935-0EDECFF278C0}</a:tableStyleId>
              </a:tblPr>
              <a:tblGrid>
                <a:gridCol w="3765550"/>
                <a:gridCol w="2102485"/>
                <a:gridCol w="1988185"/>
                <a:gridCol w="2239010"/>
              </a:tblGrid>
              <a:tr h="701040">
                <a:tc>
                  <a:txBody>
                    <a:bodyPr/>
                    <a:p>
                      <a:pPr algn="ctr">
                        <a:lnSpc>
                          <a:spcPct val="100000"/>
                        </a:lnSpc>
                        <a:spcBef>
                          <a:spcPct val="0"/>
                        </a:spcBef>
                        <a:spcAft>
                          <a:spcPct val="0"/>
                        </a:spcAft>
                      </a:pPr>
                      <a:r>
                        <a:rPr sz="1800" b="1">
                          <a:solidFill>
                            <a:schemeClr val="tx1"/>
                          </a:solidFill>
                          <a:latin typeface="Times New Roman" panose="02020603050405020304"/>
                          <a:ea typeface="Times New Roman" panose="02020603050405020304"/>
                        </a:rPr>
                        <a:t>Chỉ số phân tích</a:t>
                      </a:r>
                      <a:endParaRPr sz="1800" b="1">
                        <a:solidFill>
                          <a:schemeClr val="tx1"/>
                        </a:solidFill>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b="1">
                          <a:solidFill>
                            <a:schemeClr val="tx1"/>
                          </a:solidFill>
                          <a:latin typeface="Times New Roman" panose="02020603050405020304"/>
                          <a:ea typeface="Times New Roman" panose="02020603050405020304"/>
                        </a:rPr>
                        <a:t>Tập Train</a:t>
                      </a:r>
                      <a:endParaRPr sz="1800" b="1">
                        <a:solidFill>
                          <a:schemeClr val="tx1"/>
                        </a:solidFill>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b="1">
                          <a:solidFill>
                            <a:schemeClr val="tx1"/>
                          </a:solidFill>
                          <a:latin typeface="Times New Roman" panose="02020603050405020304"/>
                          <a:ea typeface="Times New Roman" panose="02020603050405020304"/>
                        </a:rPr>
                        <a:t>Tập Validation</a:t>
                      </a:r>
                      <a:endParaRPr sz="1800" b="1">
                        <a:solidFill>
                          <a:schemeClr val="tx1"/>
                        </a:solidFill>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b="1">
                          <a:solidFill>
                            <a:schemeClr val="tx1"/>
                          </a:solidFill>
                          <a:latin typeface="Times New Roman" panose="02020603050405020304"/>
                          <a:ea typeface="Times New Roman" panose="02020603050405020304"/>
                        </a:rPr>
                        <a:t>Tập Test</a:t>
                      </a:r>
                      <a:endParaRPr sz="1800" b="1">
                        <a:solidFill>
                          <a:schemeClr val="tx1"/>
                        </a:solidFill>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70230">
                <a:tc>
                  <a:txBody>
                    <a:bodyPr/>
                    <a:p>
                      <a:pPr marL="63500" indent="0" algn="l" fontAlgn="auto">
                        <a:lnSpc>
                          <a:spcPct val="100000"/>
                        </a:lnSpc>
                        <a:spcBef>
                          <a:spcPct val="0"/>
                        </a:spcBef>
                        <a:spcAft>
                          <a:spcPct val="0"/>
                        </a:spcAft>
                      </a:pPr>
                      <a:r>
                        <a:rPr sz="1800">
                          <a:latin typeface="Times New Roman" panose="02020603050405020304"/>
                          <a:ea typeface="Times New Roman" panose="02020603050405020304"/>
                        </a:rPr>
                        <a:t>Số lượng </a:t>
                      </a:r>
                      <a:r>
                        <a:rPr lang="vi-VN" sz="1800">
                          <a:latin typeface="Times New Roman" panose="02020603050405020304"/>
                          <a:ea typeface="Times New Roman" panose="02020603050405020304"/>
                        </a:rPr>
                        <a:t>mẫu (bài </a:t>
                      </a:r>
                      <a:r>
                        <a:rPr lang="vi-VN" sz="1800">
                          <a:latin typeface="Times New Roman" panose="02020603050405020304"/>
                          <a:ea typeface="Times New Roman" panose="02020603050405020304"/>
                        </a:rPr>
                        <a:t>báo)</a:t>
                      </a:r>
                      <a:endParaRPr lang="vi-VN"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a:latin typeface="Times New Roman" panose="02020603050405020304"/>
                          <a:ea typeface="Times New Roman" panose="02020603050405020304"/>
                        </a:rPr>
                        <a:t>99.134</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a:latin typeface="Times New Roman" panose="02020603050405020304"/>
                          <a:ea typeface="Times New Roman" panose="02020603050405020304"/>
                        </a:rPr>
                        <a:t>22.184</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a:latin typeface="Times New Roman" panose="02020603050405020304"/>
                          <a:ea typeface="Times New Roman" panose="02020603050405020304"/>
                        </a:rPr>
                        <a:t>22.498</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71195">
                <a:tc>
                  <a:txBody>
                    <a:bodyPr/>
                    <a:p>
                      <a:pPr marL="63500" indent="0" algn="l" fontAlgn="auto">
                        <a:lnSpc>
                          <a:spcPct val="100000"/>
                        </a:lnSpc>
                        <a:spcBef>
                          <a:spcPct val="0"/>
                        </a:spcBef>
                        <a:spcAft>
                          <a:spcPct val="0"/>
                        </a:spcAft>
                      </a:pPr>
                      <a:r>
                        <a:rPr sz="1800">
                          <a:latin typeface="Times New Roman" panose="02020603050405020304"/>
                          <a:ea typeface="Times New Roman" panose="02020603050405020304"/>
                        </a:rPr>
                        <a:t>Độ dài bài viết trung bình (từ)</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a:latin typeface="Times New Roman" panose="02020603050405020304"/>
                          <a:ea typeface="Times New Roman" panose="02020603050405020304"/>
                        </a:rPr>
                        <a:t>406,5</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a:latin typeface="Times New Roman" panose="02020603050405020304"/>
                          <a:ea typeface="Times New Roman" panose="02020603050405020304"/>
                        </a:rPr>
                        <a:t>435,7</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a:latin typeface="Times New Roman" panose="02020603050405020304"/>
                          <a:ea typeface="Times New Roman" panose="02020603050405020304"/>
                        </a:rPr>
                        <a:t>429,5</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92455">
                <a:tc>
                  <a:txBody>
                    <a:bodyPr/>
                    <a:p>
                      <a:pPr marL="63500" indent="0" algn="l" fontAlgn="auto">
                        <a:lnSpc>
                          <a:spcPct val="100000"/>
                        </a:lnSpc>
                        <a:spcBef>
                          <a:spcPct val="0"/>
                        </a:spcBef>
                        <a:spcAft>
                          <a:spcPct val="0"/>
                        </a:spcAft>
                      </a:pPr>
                      <a:r>
                        <a:rPr sz="1800">
                          <a:latin typeface="Times New Roman" panose="02020603050405020304"/>
                          <a:ea typeface="Times New Roman" panose="02020603050405020304"/>
                        </a:rPr>
                        <a:t>Độ dài bản tóm tắt tham chiếu TB </a:t>
                      </a:r>
                      <a:r>
                        <a:rPr sz="1800">
                          <a:latin typeface="Times New Roman" panose="02020603050405020304"/>
                          <a:ea typeface="Times New Roman" panose="02020603050405020304"/>
                        </a:rPr>
                        <a:t>(từ)</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a:latin typeface="Times New Roman" panose="02020603050405020304"/>
                          <a:ea typeface="Times New Roman" panose="02020603050405020304"/>
                        </a:rPr>
                        <a:t>32,4</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a:latin typeface="Times New Roman" panose="02020603050405020304"/>
                          <a:ea typeface="Times New Roman" panose="02020603050405020304"/>
                        </a:rPr>
                        <a:t>31,8</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a:latin typeface="Times New Roman" panose="02020603050405020304"/>
                          <a:ea typeface="Times New Roman" panose="02020603050405020304"/>
                        </a:rPr>
                        <a:t>31,8</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81660">
                <a:tc>
                  <a:txBody>
                    <a:bodyPr/>
                    <a:p>
                      <a:pPr marL="63500" indent="0" algn="l" fontAlgn="auto">
                        <a:lnSpc>
                          <a:spcPct val="100000"/>
                        </a:lnSpc>
                        <a:spcBef>
                          <a:spcPct val="0"/>
                        </a:spcBef>
                        <a:spcAft>
                          <a:spcPct val="0"/>
                        </a:spcAft>
                      </a:pPr>
                      <a:r>
                        <a:rPr sz="1800">
                          <a:latin typeface="Times New Roman" panose="02020603050405020304"/>
                          <a:ea typeface="Times New Roman" panose="02020603050405020304"/>
                        </a:rPr>
                        <a:t>Tỷ lệ nén trung bình (%)</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a:latin typeface="Times New Roman" panose="02020603050405020304"/>
                          <a:ea typeface="Times New Roman" panose="02020603050405020304"/>
                        </a:rPr>
                        <a:t>9,31%</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a:latin typeface="Times New Roman" panose="02020603050405020304"/>
                          <a:ea typeface="Times New Roman" panose="02020603050405020304"/>
                        </a:rPr>
                        <a:t>8,76%</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lnSpc>
                          <a:spcPct val="100000"/>
                        </a:lnSpc>
                        <a:spcBef>
                          <a:spcPct val="0"/>
                        </a:spcBef>
                        <a:spcAft>
                          <a:spcPct val="0"/>
                        </a:spcAft>
                      </a:pPr>
                      <a:r>
                        <a:rPr sz="1800">
                          <a:latin typeface="Times New Roman" panose="02020603050405020304"/>
                          <a:ea typeface="Times New Roman" panose="02020603050405020304"/>
                        </a:rPr>
                        <a:t>8,92%</a:t>
                      </a:r>
                      <a:endParaRPr sz="1800">
                        <a:latin typeface="Times New Roman" panose="02020603050405020304"/>
                        <a:ea typeface="Times New Roman" panose="02020603050405020304"/>
                      </a:endParaRPr>
                    </a:p>
                  </a:txBody>
                  <a:tcPr marL="0" marR="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12" name="Text Box 11"/>
          <p:cNvSpPr txBox="1"/>
          <p:nvPr/>
        </p:nvSpPr>
        <p:spPr>
          <a:xfrm>
            <a:off x="3729355" y="5378450"/>
            <a:ext cx="5241290" cy="368300"/>
          </a:xfrm>
          <a:prstGeom prst="rect">
            <a:avLst/>
          </a:prstGeom>
          <a:noFill/>
        </p:spPr>
        <p:txBody>
          <a:bodyPr wrap="square" rtlCol="0">
            <a:spAutoFit/>
          </a:bodyPr>
          <a:p>
            <a:pPr algn="ctr"/>
            <a:r>
              <a:rPr lang="en-US" altLang="en-US" i="1">
                <a:latin typeface="Times New Roman" panose="02020603050405020304" pitchFamily="18" charset="0"/>
                <a:cs typeface="Times New Roman" panose="02020603050405020304" pitchFamily="18" charset="0"/>
              </a:rPr>
              <a:t>https://huggingface.co/datasets/nam194/vietnews</a:t>
            </a:r>
            <a:endParaRPr lang="en-US" altLang="en-US" i="1">
              <a:latin typeface="Times New Roman" panose="02020603050405020304" pitchFamily="18" charset="0"/>
              <a:cs typeface="Times New Roman" panose="02020603050405020304" pitchFamily="18" charset="0"/>
            </a:endParaRPr>
          </a:p>
        </p:txBody>
      </p:sp>
      <p:sp>
        <p:nvSpPr>
          <p:cNvPr id="14" name="TextBox 1"/>
          <p:cNvSpPr txBox="1"/>
          <p:nvPr/>
        </p:nvSpPr>
        <p:spPr>
          <a:xfrm>
            <a:off x="847725" y="356235"/>
            <a:ext cx="10103485" cy="368300"/>
          </a:xfrm>
          <a:prstGeom prst="rect">
            <a:avLst/>
          </a:prstGeom>
          <a:noFill/>
        </p:spPr>
        <p:txBody>
          <a:bodyPr wrap="square" rtlCol="0">
            <a:spAutoFit/>
          </a:bodyPr>
          <a:lstStyle/>
          <a:p>
            <a:pPr algn="ctr"/>
            <a:r>
              <a:rPr lang="vi-VN" b="1" dirty="0">
                <a:solidFill>
                  <a:schemeClr val="bg1"/>
                </a:solidFill>
                <a:latin typeface="+mj-lt"/>
              </a:rPr>
              <a:t>TRƯỜNG ĐẠI HỌC GIAO THÔNG VẬN TẢI PHÂN HIỆ</a:t>
            </a:r>
            <a:r>
              <a:rPr lang="en-US" altLang="vi-VN" b="1" dirty="0">
                <a:solidFill>
                  <a:schemeClr val="bg1"/>
                </a:solidFill>
                <a:latin typeface="+mj-lt"/>
              </a:rPr>
              <a:t>U</a:t>
            </a:r>
            <a:r>
              <a:rPr lang="vi-VN" b="1" dirty="0">
                <a:solidFill>
                  <a:schemeClr val="bg1"/>
                </a:solidFill>
                <a:latin typeface="+mj-lt"/>
              </a:rPr>
              <a:t> </a:t>
            </a:r>
            <a:r>
              <a:rPr lang="vi-VN" b="1" dirty="0">
                <a:solidFill>
                  <a:schemeClr val="bg1"/>
                </a:solidFill>
                <a:latin typeface="+mj-lt"/>
              </a:rPr>
              <a:t>TẠI THÀNH PHỐ HỒ CHÍ MINH</a:t>
            </a:r>
            <a:endParaRPr lang="vi-VN" b="1" dirty="0">
              <a:solidFill>
                <a:schemeClr val="bg1"/>
              </a:solidFill>
              <a:latin typeface="+mj-lt"/>
            </a:endParaRPr>
          </a:p>
        </p:txBody>
      </p:sp>
      <p:sp>
        <p:nvSpPr>
          <p:cNvPr id="15" name="Text Box 14"/>
          <p:cNvSpPr txBox="1"/>
          <p:nvPr/>
        </p:nvSpPr>
        <p:spPr>
          <a:xfrm>
            <a:off x="563245" y="1479550"/>
            <a:ext cx="5083810" cy="398780"/>
          </a:xfrm>
          <a:prstGeom prst="rect">
            <a:avLst/>
          </a:prstGeom>
          <a:noFill/>
        </p:spPr>
        <p:txBody>
          <a:bodyPr wrap="square" rtlCol="0">
            <a:spAutoFit/>
          </a:bodyPr>
          <a:p>
            <a:r>
              <a:rPr lang="vi-VN" altLang="en-US" sz="2000" b="1">
                <a:latin typeface="Times New Roman" panose="02020603050405020304" pitchFamily="18" charset="0"/>
                <a:cs typeface="Times New Roman" panose="02020603050405020304" pitchFamily="18" charset="0"/>
                <a:sym typeface="+mn-ea"/>
              </a:rPr>
              <a:t>V. BỘ DỮ LIỆU </a:t>
            </a:r>
            <a:r>
              <a:rPr lang="vi-VN" altLang="en-US" sz="2000" b="1">
                <a:latin typeface="Times New Roman" panose="02020603050405020304" pitchFamily="18" charset="0"/>
                <a:cs typeface="Times New Roman" panose="02020603050405020304" pitchFamily="18" charset="0"/>
                <a:sym typeface="+mn-ea"/>
              </a:rPr>
              <a:t>VIETNEWS</a:t>
            </a:r>
            <a:endParaRPr lang="vi-VN" altLang="en-US" sz="2000" b="1">
              <a:latin typeface="Times New Roman" panose="02020603050405020304" pitchFamily="18" charset="0"/>
              <a:cs typeface="Times New Roman" panose="02020603050405020304" pitchFamily="18" charset="0"/>
              <a:sym typeface="+mn-ea"/>
            </a:endParaRPr>
          </a:p>
        </p:txBody>
      </p:sp>
      <p:sp>
        <p:nvSpPr>
          <p:cNvPr id="18" name="Text Box 17"/>
          <p:cNvSpPr txBox="1"/>
          <p:nvPr/>
        </p:nvSpPr>
        <p:spPr>
          <a:xfrm>
            <a:off x="298450" y="5746750"/>
            <a:ext cx="11666220" cy="645160"/>
          </a:xfrm>
          <a:prstGeom prst="rect">
            <a:avLst/>
          </a:prstGeom>
          <a:noFill/>
        </p:spPr>
        <p:txBody>
          <a:bodyPr wrap="square" rtlCol="0">
            <a:spAutoFit/>
          </a:bodyPr>
          <a:p>
            <a:pPr algn="just"/>
            <a:r>
              <a:rPr lang="en-US" altLang="en-US">
                <a:latin typeface="Times New Roman" panose="02020603050405020304" pitchFamily="18" charset="0"/>
                <a:cs typeface="Times New Roman" panose="02020603050405020304" pitchFamily="18" charset="0"/>
              </a:rPr>
              <a:t>V.-H. Nguyen, T.-C. Nguyen, M.-T. Nguyen, and N. X. Hoai, “VNDS: A Vietnamese Dataset for Summarization,” in Proceedings of the 2019 6th NAFOSTED Conference on Information and Computer Science (NICS), Hanoi, Vietnam, 2019</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3C4FCFE7-4CFC-4698-A5C8-57D6C94FD847}" type="slidenum">
              <a:rPr lang="en-US" smtClean="0"/>
            </a:fld>
            <a:endParaRPr lang="en-US"/>
          </a:p>
        </p:txBody>
      </p:sp>
      <p:sp>
        <p:nvSpPr>
          <p:cNvPr id="3" name="TextBox 1"/>
          <p:cNvSpPr txBox="1"/>
          <p:nvPr/>
        </p:nvSpPr>
        <p:spPr>
          <a:xfrm>
            <a:off x="847725" y="356235"/>
            <a:ext cx="10103485" cy="368300"/>
          </a:xfrm>
          <a:prstGeom prst="rect">
            <a:avLst/>
          </a:prstGeom>
          <a:noFill/>
        </p:spPr>
        <p:txBody>
          <a:bodyPr wrap="square" rtlCol="0">
            <a:spAutoFit/>
          </a:bodyPr>
          <a:lstStyle/>
          <a:p>
            <a:pPr algn="ctr"/>
            <a:r>
              <a:rPr lang="vi-VN" b="1" dirty="0">
                <a:solidFill>
                  <a:schemeClr val="bg1"/>
                </a:solidFill>
                <a:latin typeface="+mj-lt"/>
              </a:rPr>
              <a:t>TRƯỜNG ĐẠI HỌC GIAO THÔNG VẬN TẢI PHÂN HIỆ</a:t>
            </a:r>
            <a:r>
              <a:rPr lang="en-US" altLang="vi-VN" b="1" dirty="0">
                <a:solidFill>
                  <a:schemeClr val="bg1"/>
                </a:solidFill>
                <a:latin typeface="+mj-lt"/>
              </a:rPr>
              <a:t>U</a:t>
            </a:r>
            <a:r>
              <a:rPr lang="vi-VN" b="1" dirty="0">
                <a:solidFill>
                  <a:schemeClr val="bg1"/>
                </a:solidFill>
                <a:latin typeface="+mj-lt"/>
              </a:rPr>
              <a:t> </a:t>
            </a:r>
            <a:r>
              <a:rPr lang="vi-VN" b="1" dirty="0">
                <a:solidFill>
                  <a:schemeClr val="bg1"/>
                </a:solidFill>
                <a:latin typeface="+mj-lt"/>
              </a:rPr>
              <a:t>TẠI THÀNH PHỐ HỒ CHÍ MINH</a:t>
            </a:r>
            <a:endParaRPr lang="vi-VN" b="1" dirty="0">
              <a:solidFill>
                <a:schemeClr val="bg1"/>
              </a:solidFill>
              <a:latin typeface="+mj-lt"/>
            </a:endParaRPr>
          </a:p>
        </p:txBody>
      </p:sp>
      <p:sp>
        <p:nvSpPr>
          <p:cNvPr id="5" name="Text Box 4"/>
          <p:cNvSpPr txBox="1"/>
          <p:nvPr/>
        </p:nvSpPr>
        <p:spPr>
          <a:xfrm>
            <a:off x="563245" y="1281430"/>
            <a:ext cx="5083810" cy="398780"/>
          </a:xfrm>
          <a:prstGeom prst="rect">
            <a:avLst/>
          </a:prstGeom>
          <a:noFill/>
        </p:spPr>
        <p:txBody>
          <a:bodyPr wrap="square" rtlCol="0">
            <a:spAutoFit/>
          </a:bodyPr>
          <a:p>
            <a:r>
              <a:rPr lang="vi-VN" altLang="en-US" sz="2000" b="1">
                <a:latin typeface="Times New Roman" panose="02020603050405020304" pitchFamily="18" charset="0"/>
                <a:cs typeface="Times New Roman" panose="02020603050405020304" pitchFamily="18" charset="0"/>
                <a:sym typeface="+mn-ea"/>
              </a:rPr>
              <a:t>V</a:t>
            </a:r>
            <a:r>
              <a:rPr lang="vi-VN" altLang="en-US" sz="2000" b="1">
                <a:latin typeface="Times New Roman" panose="02020603050405020304" pitchFamily="18" charset="0"/>
                <a:cs typeface="Times New Roman" panose="02020603050405020304" pitchFamily="18" charset="0"/>
                <a:sym typeface="+mn-ea"/>
              </a:rPr>
              <a:t>I. KẾT QUẢ THỰC </a:t>
            </a:r>
            <a:r>
              <a:rPr lang="vi-VN" altLang="en-US" sz="2000" b="1">
                <a:latin typeface="Times New Roman" panose="02020603050405020304" pitchFamily="18" charset="0"/>
                <a:cs typeface="Times New Roman" panose="02020603050405020304" pitchFamily="18" charset="0"/>
                <a:sym typeface="+mn-ea"/>
              </a:rPr>
              <a:t>NGHIỆM</a:t>
            </a:r>
            <a:endParaRPr lang="vi-VN" altLang="en-US" sz="2000" b="1">
              <a:latin typeface="Times New Roman" panose="02020603050405020304" pitchFamily="18" charset="0"/>
              <a:cs typeface="Times New Roman" panose="02020603050405020304" pitchFamily="18" charset="0"/>
              <a:sym typeface="+mn-ea"/>
            </a:endParaRPr>
          </a:p>
        </p:txBody>
      </p:sp>
      <p:pic>
        <p:nvPicPr>
          <p:cNvPr id="4" name="Picture 1"/>
          <p:cNvPicPr>
            <a:picLocks noChangeAspect="1"/>
          </p:cNvPicPr>
          <p:nvPr/>
        </p:nvPicPr>
        <p:blipFill>
          <a:blip r:embed="rId1"/>
          <a:stretch>
            <a:fillRect/>
          </a:stretch>
        </p:blipFill>
        <p:spPr>
          <a:xfrm>
            <a:off x="1889760" y="1737995"/>
            <a:ext cx="8019415" cy="456120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3C4FCFE7-4CFC-4698-A5C8-57D6C94FD847}" type="slidenum">
              <a:rPr lang="en-US" smtClean="0"/>
            </a:fld>
            <a:endParaRPr lang="en-US"/>
          </a:p>
        </p:txBody>
      </p:sp>
      <p:sp>
        <p:nvSpPr>
          <p:cNvPr id="3" name="TextBox 1"/>
          <p:cNvSpPr txBox="1"/>
          <p:nvPr/>
        </p:nvSpPr>
        <p:spPr>
          <a:xfrm>
            <a:off x="847725" y="356235"/>
            <a:ext cx="10103485" cy="368300"/>
          </a:xfrm>
          <a:prstGeom prst="rect">
            <a:avLst/>
          </a:prstGeom>
          <a:noFill/>
        </p:spPr>
        <p:txBody>
          <a:bodyPr wrap="square" rtlCol="0">
            <a:spAutoFit/>
          </a:bodyPr>
          <a:lstStyle/>
          <a:p>
            <a:pPr algn="ctr"/>
            <a:r>
              <a:rPr lang="vi-VN" b="1" dirty="0">
                <a:solidFill>
                  <a:schemeClr val="bg1"/>
                </a:solidFill>
                <a:latin typeface="+mj-lt"/>
              </a:rPr>
              <a:t>TRƯỜNG ĐẠI HỌC GIAO THÔNG VẬN TẢI PHÂN HIỆ</a:t>
            </a:r>
            <a:r>
              <a:rPr lang="en-US" altLang="vi-VN" b="1" dirty="0">
                <a:solidFill>
                  <a:schemeClr val="bg1"/>
                </a:solidFill>
                <a:latin typeface="+mj-lt"/>
              </a:rPr>
              <a:t>U</a:t>
            </a:r>
            <a:r>
              <a:rPr lang="vi-VN" b="1" dirty="0">
                <a:solidFill>
                  <a:schemeClr val="bg1"/>
                </a:solidFill>
                <a:latin typeface="+mj-lt"/>
              </a:rPr>
              <a:t> </a:t>
            </a:r>
            <a:r>
              <a:rPr lang="vi-VN" b="1" dirty="0">
                <a:solidFill>
                  <a:schemeClr val="bg1"/>
                </a:solidFill>
                <a:latin typeface="+mj-lt"/>
              </a:rPr>
              <a:t>TẠI THÀNH PHỐ HỒ CHÍ MINH</a:t>
            </a:r>
            <a:endParaRPr lang="vi-VN" b="1" dirty="0">
              <a:solidFill>
                <a:schemeClr val="bg1"/>
              </a:solidFill>
              <a:latin typeface="+mj-lt"/>
            </a:endParaRPr>
          </a:p>
        </p:txBody>
      </p:sp>
      <p:sp>
        <p:nvSpPr>
          <p:cNvPr id="5" name="Text Box 4"/>
          <p:cNvSpPr txBox="1"/>
          <p:nvPr/>
        </p:nvSpPr>
        <p:spPr>
          <a:xfrm>
            <a:off x="563245" y="1479550"/>
            <a:ext cx="5083810" cy="398780"/>
          </a:xfrm>
          <a:prstGeom prst="rect">
            <a:avLst/>
          </a:prstGeom>
          <a:noFill/>
        </p:spPr>
        <p:txBody>
          <a:bodyPr wrap="square" rtlCol="0">
            <a:spAutoFit/>
          </a:bodyPr>
          <a:p>
            <a:r>
              <a:rPr lang="vi-VN" altLang="en-US" sz="2000" b="1">
                <a:latin typeface="Times New Roman" panose="02020603050405020304" pitchFamily="18" charset="0"/>
                <a:cs typeface="Times New Roman" panose="02020603050405020304" pitchFamily="18" charset="0"/>
                <a:sym typeface="+mn-ea"/>
              </a:rPr>
              <a:t>VI</a:t>
            </a:r>
            <a:r>
              <a:rPr lang="vi-VN" altLang="en-US" sz="2000" b="1">
                <a:latin typeface="Times New Roman" panose="02020603050405020304" pitchFamily="18" charset="0"/>
                <a:cs typeface="Times New Roman" panose="02020603050405020304" pitchFamily="18" charset="0"/>
                <a:sym typeface="+mn-ea"/>
              </a:rPr>
              <a:t>I. KẾT LUẬN VÀ ĐÓNG </a:t>
            </a:r>
            <a:r>
              <a:rPr lang="vi-VN" altLang="en-US" sz="2000" b="1">
                <a:latin typeface="Times New Roman" panose="02020603050405020304" pitchFamily="18" charset="0"/>
                <a:cs typeface="Times New Roman" panose="02020603050405020304" pitchFamily="18" charset="0"/>
                <a:sym typeface="+mn-ea"/>
              </a:rPr>
              <a:t>GÓP</a:t>
            </a:r>
            <a:endParaRPr lang="vi-VN" altLang="en-US" sz="2000" b="1">
              <a:latin typeface="Times New Roman" panose="02020603050405020304" pitchFamily="18" charset="0"/>
              <a:cs typeface="Times New Roman" panose="02020603050405020304" pitchFamily="18" charset="0"/>
              <a:sym typeface="+mn-ea"/>
            </a:endParaRPr>
          </a:p>
        </p:txBody>
      </p:sp>
      <p:sp>
        <p:nvSpPr>
          <p:cNvPr id="7" name="Text Box 6"/>
          <p:cNvSpPr txBox="1"/>
          <p:nvPr/>
        </p:nvSpPr>
        <p:spPr>
          <a:xfrm>
            <a:off x="847725" y="2001520"/>
            <a:ext cx="9535795" cy="3960495"/>
          </a:xfrm>
          <a:prstGeom prst="rect">
            <a:avLst/>
          </a:prstGeom>
          <a:noFill/>
        </p:spPr>
        <p:txBody>
          <a:bodyPr wrap="square" rtlCol="0">
            <a:noAutofit/>
          </a:bodyPr>
          <a:p>
            <a:pPr marL="285750" indent="-285750" algn="just">
              <a:buFont typeface="Wingdings" panose="05000000000000000000" charset="0"/>
              <a:buChar char="Ø"/>
            </a:pPr>
            <a:r>
              <a:rPr lang="en-US" altLang="en-US" i="1">
                <a:latin typeface="Times New Roman" panose="02020603050405020304" pitchFamily="18" charset="0"/>
                <a:cs typeface="Times New Roman" panose="02020603050405020304" pitchFamily="18" charset="0"/>
              </a:rPr>
              <a:t>Hoàn thiện ph</a:t>
            </a:r>
            <a:r>
              <a:rPr lang="en-US" altLang="en-US" i="1">
                <a:latin typeface="Times New Roman" panose="02020603050405020304" pitchFamily="18" charset="0"/>
                <a:cs typeface="Times New Roman" panose="02020603050405020304" pitchFamily="18" charset="0"/>
              </a:rPr>
              <a:t>ư</a:t>
            </a:r>
            <a:r>
              <a:rPr lang="en-US" altLang="en-US" i="1">
                <a:latin typeface="Times New Roman" panose="02020603050405020304" pitchFamily="18" charset="0"/>
                <a:cs typeface="Times New Roman" panose="02020603050405020304" pitchFamily="18" charset="0"/>
              </a:rPr>
              <a:t>ơng pháp tóm tắt lai:</a:t>
            </a:r>
            <a:r>
              <a:rPr lang="en-US" altLang="en-US">
                <a:latin typeface="Times New Roman" panose="02020603050405020304" pitchFamily="18" charset="0"/>
                <a:cs typeface="Times New Roman" panose="02020603050405020304" pitchFamily="18" charset="0"/>
              </a:rPr>
              <a:t> Chứng minh thực nghiệm giải pháp kết hợp hai giai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oạn trích lọc và diễn giải giúp tối </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u hóa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áng kể thời gian suy diễn của các mô hình sinh, tiết kiệm từ 30 phần tr</a:t>
            </a:r>
            <a:r>
              <a:rPr lang="en-US" altLang="en-US">
                <a:latin typeface="Times New Roman" panose="02020603050405020304" pitchFamily="18" charset="0"/>
                <a:cs typeface="Times New Roman" panose="02020603050405020304" pitchFamily="18" charset="0"/>
              </a:rPr>
              <a:t>ă</a:t>
            </a:r>
            <a:r>
              <a:rPr lang="en-US" altLang="en-US">
                <a:latin typeface="Times New Roman" panose="02020603050405020304" pitchFamily="18" charset="0"/>
                <a:cs typeface="Times New Roman" panose="02020603050405020304" pitchFamily="18" charset="0"/>
              </a:rPr>
              <a:t>m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ến 59 phần tr</a:t>
            </a:r>
            <a:r>
              <a:rPr lang="en-US" altLang="en-US">
                <a:latin typeface="Times New Roman" panose="02020603050405020304" pitchFamily="18" charset="0"/>
                <a:cs typeface="Times New Roman" panose="02020603050405020304" pitchFamily="18" charset="0"/>
              </a:rPr>
              <a:t>ă</a:t>
            </a:r>
            <a:r>
              <a:rPr lang="en-US" altLang="en-US">
                <a:latin typeface="Times New Roman" panose="02020603050405020304" pitchFamily="18" charset="0"/>
                <a:cs typeface="Times New Roman" panose="02020603050405020304" pitchFamily="18" charset="0"/>
              </a:rPr>
              <a:t>m thời gian xử l</a:t>
            </a:r>
            <a:r>
              <a:rPr lang="en-US" altLang="en-US">
                <a:latin typeface="Times New Roman" panose="02020603050405020304" pitchFamily="18" charset="0"/>
                <a:cs typeface="Times New Roman" panose="02020603050405020304" pitchFamily="18" charset="0"/>
              </a:rPr>
              <a:t>ý</a:t>
            </a:r>
            <a:r>
              <a:rPr lang="en-US" altLang="en-US">
                <a:latin typeface="Times New Roman" panose="02020603050405020304" pitchFamily="18" charset="0"/>
                <a:cs typeface="Times New Roman" panose="02020603050405020304" pitchFamily="18" charset="0"/>
              </a:rPr>
              <a:t> trong khi chất l</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ợng thông tin và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iểm ROUGE chỉ suy giảm rất nhỏ</a:t>
            </a:r>
            <a:r>
              <a:rPr lang="vi-VN" altLang="en-US">
                <a:latin typeface="Times New Roman" panose="02020603050405020304" pitchFamily="18" charset="0"/>
                <a:cs typeface="Times New Roman" panose="02020603050405020304" pitchFamily="18" charset="0"/>
              </a:rPr>
              <a:t> trên bộ dataset </a:t>
            </a:r>
            <a:r>
              <a:rPr lang="vi-VN" altLang="en-US">
                <a:latin typeface="Times New Roman" panose="02020603050405020304" pitchFamily="18" charset="0"/>
                <a:cs typeface="Times New Roman" panose="02020603050405020304" pitchFamily="18" charset="0"/>
              </a:rPr>
              <a:t>VietNews.</a:t>
            </a:r>
            <a:endParaRPr lang="en-US" alt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t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i="1">
                <a:latin typeface="Times New Roman" panose="02020603050405020304" pitchFamily="18" charset="0"/>
                <a:cs typeface="Times New Roman" panose="02020603050405020304" pitchFamily="18" charset="0"/>
              </a:rPr>
              <a:t>Tối </a:t>
            </a:r>
            <a:r>
              <a:rPr lang="en-US" altLang="en-US" i="1">
                <a:latin typeface="Times New Roman" panose="02020603050405020304" pitchFamily="18" charset="0"/>
                <a:cs typeface="Times New Roman" panose="02020603050405020304" pitchFamily="18" charset="0"/>
              </a:rPr>
              <a:t>ư</a:t>
            </a:r>
            <a:r>
              <a:rPr lang="en-US" altLang="en-US" i="1">
                <a:latin typeface="Times New Roman" panose="02020603050405020304" pitchFamily="18" charset="0"/>
                <a:cs typeface="Times New Roman" panose="02020603050405020304" pitchFamily="18" charset="0"/>
              </a:rPr>
              <a:t>u hóa tài nguyên phần cứng:</a:t>
            </a:r>
            <a:r>
              <a:rPr lang="en-US" altLang="en-US">
                <a:latin typeface="Times New Roman" panose="02020603050405020304" pitchFamily="18" charset="0"/>
                <a:cs typeface="Times New Roman" panose="02020603050405020304" pitchFamily="18" charset="0"/>
              </a:rPr>
              <a:t> Giải quyết triệt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ể lỗi quá tải bộ nhớ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ồ họa VRAM khi chạy các mô hình Transformer tự hồi quy trên các thiết bị cấu hình phổ thông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ối với v</a:t>
            </a:r>
            <a:r>
              <a:rPr lang="en-US" altLang="en-US">
                <a:latin typeface="Times New Roman" panose="02020603050405020304" pitchFamily="18" charset="0"/>
                <a:cs typeface="Times New Roman" panose="02020603050405020304" pitchFamily="18" charset="0"/>
              </a:rPr>
              <a:t>ă</a:t>
            </a:r>
            <a:r>
              <a:rPr lang="en-US" altLang="en-US">
                <a:latin typeface="Times New Roman" panose="02020603050405020304" pitchFamily="18" charset="0"/>
                <a:cs typeface="Times New Roman" panose="02020603050405020304" pitchFamily="18" charset="0"/>
              </a:rPr>
              <a:t>n bản tiếng Việt có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ộ dài lớn.</a:t>
            </a:r>
            <a:endParaRPr lang="en-US" alt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t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i="1">
                <a:latin typeface="Times New Roman" panose="02020603050405020304" pitchFamily="18" charset="0"/>
                <a:cs typeface="Times New Roman" panose="02020603050405020304" pitchFamily="18" charset="0"/>
              </a:rPr>
              <a:t>Phát triển phần mềm thực tế: </a:t>
            </a:r>
            <a:r>
              <a:rPr lang="en-US" altLang="en-US">
                <a:latin typeface="Times New Roman" panose="02020603050405020304" pitchFamily="18" charset="0"/>
                <a:cs typeface="Times New Roman" panose="02020603050405020304" pitchFamily="18" charset="0"/>
              </a:rPr>
              <a:t>Xây dựng thành công </a:t>
            </a:r>
            <a:r>
              <a:rPr lang="vi-VN" altLang="en-US">
                <a:latin typeface="Times New Roman" panose="02020603050405020304" pitchFamily="18" charset="0"/>
                <a:cs typeface="Times New Roman" panose="02020603050405020304" pitchFamily="18" charset="0"/>
              </a:rPr>
              <a:t>website</a:t>
            </a:r>
            <a:r>
              <a:rPr lang="en-US" altLang="en-US">
                <a:latin typeface="Times New Roman" panose="02020603050405020304" pitchFamily="18" charset="0"/>
                <a:cs typeface="Times New Roman" panose="02020603050405020304" pitchFamily="18" charset="0"/>
              </a:rPr>
              <a:t> với FastAPI backend và React frontend, hỗ trợ các chức n</a:t>
            </a:r>
            <a:r>
              <a:rPr lang="en-US" altLang="en-US">
                <a:latin typeface="Times New Roman" panose="02020603050405020304" pitchFamily="18" charset="0"/>
                <a:cs typeface="Times New Roman" panose="02020603050405020304" pitchFamily="18" charset="0"/>
              </a:rPr>
              <a:t>ă</a:t>
            </a:r>
            <a:r>
              <a:rPr lang="en-US" altLang="en-US">
                <a:latin typeface="Times New Roman" panose="02020603050405020304" pitchFamily="18" charset="0"/>
                <a:cs typeface="Times New Roman" panose="02020603050405020304" pitchFamily="18" charset="0"/>
              </a:rPr>
              <a:t>ng tóm tắt tự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ộng, hỏi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áp ChatRAG t</a:t>
            </a:r>
            <a:r>
              <a:rPr lang="en-US" altLang="en-US">
                <a:latin typeface="Times New Roman" panose="02020603050405020304" pitchFamily="18" charset="0"/>
                <a:cs typeface="Times New Roman" panose="02020603050405020304" pitchFamily="18" charset="0"/>
              </a:rPr>
              <a:t>ư</a:t>
            </a:r>
            <a:r>
              <a:rPr lang="en-US" altLang="en-US">
                <a:latin typeface="Times New Roman" panose="02020603050405020304" pitchFamily="18" charset="0"/>
                <a:cs typeface="Times New Roman" panose="02020603050405020304" pitchFamily="18" charset="0"/>
              </a:rPr>
              <a:t>ơng tác với tài liệu thô và trực quan hóa các biểu </a:t>
            </a:r>
            <a:r>
              <a:rPr lang="en-US" altLang="en-US">
                <a:latin typeface="Times New Roman" panose="02020603050405020304" pitchFamily="18" charset="0"/>
                <a:cs typeface="Times New Roman" panose="02020603050405020304" pitchFamily="18" charset="0"/>
              </a:rPr>
              <a:t>đ</a:t>
            </a:r>
            <a:r>
              <a:rPr lang="en-US" altLang="en-US">
                <a:latin typeface="Times New Roman" panose="02020603050405020304" pitchFamily="18" charset="0"/>
                <a:cs typeface="Times New Roman" panose="02020603050405020304" pitchFamily="18" charset="0"/>
              </a:rPr>
              <a:t>ồ thực nghiệm.</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3C4FCFE7-4CFC-4698-A5C8-57D6C94FD847}" type="slidenum">
              <a:rPr lang="en-US" smtClean="0"/>
            </a:fld>
            <a:endParaRPr lang="en-US"/>
          </a:p>
        </p:txBody>
      </p:sp>
      <p:sp>
        <p:nvSpPr>
          <p:cNvPr id="4" name="TextBox 1"/>
          <p:cNvSpPr txBox="1"/>
          <p:nvPr/>
        </p:nvSpPr>
        <p:spPr>
          <a:xfrm>
            <a:off x="847725" y="356235"/>
            <a:ext cx="10103485" cy="368300"/>
          </a:xfrm>
          <a:prstGeom prst="rect">
            <a:avLst/>
          </a:prstGeom>
          <a:noFill/>
        </p:spPr>
        <p:txBody>
          <a:bodyPr wrap="square" rtlCol="0">
            <a:spAutoFit/>
          </a:bodyPr>
          <a:lstStyle/>
          <a:p>
            <a:pPr algn="ctr"/>
            <a:r>
              <a:rPr lang="vi-VN" b="1" dirty="0">
                <a:solidFill>
                  <a:schemeClr val="bg1"/>
                </a:solidFill>
                <a:latin typeface="+mj-lt"/>
              </a:rPr>
              <a:t>TRƯỜNG ĐẠI HỌC GIAO THÔNG VẬN TẢI PHÂN HIỆ</a:t>
            </a:r>
            <a:r>
              <a:rPr lang="en-US" altLang="vi-VN" b="1" dirty="0">
                <a:solidFill>
                  <a:schemeClr val="bg1"/>
                </a:solidFill>
                <a:latin typeface="+mj-lt"/>
              </a:rPr>
              <a:t>U</a:t>
            </a:r>
            <a:r>
              <a:rPr lang="vi-VN" b="1" dirty="0">
                <a:solidFill>
                  <a:schemeClr val="bg1"/>
                </a:solidFill>
                <a:latin typeface="+mj-lt"/>
              </a:rPr>
              <a:t> </a:t>
            </a:r>
            <a:r>
              <a:rPr lang="vi-VN" b="1" dirty="0">
                <a:solidFill>
                  <a:schemeClr val="bg1"/>
                </a:solidFill>
                <a:latin typeface="+mj-lt"/>
              </a:rPr>
              <a:t>TẠI THÀNH PHỐ HỒ CHÍ MINH</a:t>
            </a:r>
            <a:endParaRPr lang="vi-VN" b="1" dirty="0">
              <a:solidFill>
                <a:schemeClr val="bg1"/>
              </a:solidFill>
              <a:latin typeface="+mj-lt"/>
            </a:endParaRPr>
          </a:p>
        </p:txBody>
      </p:sp>
      <p:sp>
        <p:nvSpPr>
          <p:cNvPr id="6" name="Text Box 5"/>
          <p:cNvSpPr txBox="1"/>
          <p:nvPr/>
        </p:nvSpPr>
        <p:spPr>
          <a:xfrm>
            <a:off x="1334135" y="3294380"/>
            <a:ext cx="9366885" cy="645160"/>
          </a:xfrm>
          <a:prstGeom prst="rect">
            <a:avLst/>
          </a:prstGeom>
          <a:noFill/>
        </p:spPr>
        <p:txBody>
          <a:bodyPr wrap="square" rtlCol="0">
            <a:spAutoFit/>
          </a:bodyPr>
          <a:p>
            <a:pPr algn="ctr"/>
            <a:r>
              <a:rPr lang="vi-VN" altLang="en-US" sz="3600" b="1">
                <a:latin typeface="Times New Roman" panose="02020603050405020304" pitchFamily="18" charset="0"/>
                <a:cs typeface="Times New Roman" panose="02020603050405020304" pitchFamily="18" charset="0"/>
              </a:rPr>
              <a:t>DEMO</a:t>
            </a:r>
            <a:endParaRPr lang="vi-VN" altLang="en-US" sz="3600" b="1">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resource_record_key" val="{&quot;29&quot;:[5000015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4757</Words>
  <Application>WPS Presentation</Application>
  <PresentationFormat>Widescreen</PresentationFormat>
  <Paragraphs>158</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11</vt:i4>
      </vt:variant>
    </vt:vector>
  </HeadingPairs>
  <TitlesOfParts>
    <vt:vector size="24" baseType="lpstr">
      <vt:lpstr>Arial</vt:lpstr>
      <vt:lpstr>SimSun</vt:lpstr>
      <vt:lpstr>Wingdings</vt:lpstr>
      <vt:lpstr>Times New Roman</vt:lpstr>
      <vt:lpstr>Calibri</vt:lpstr>
      <vt:lpstr>Wingdings</vt:lpstr>
      <vt:lpstr>Times New Roman</vt:lpstr>
      <vt:lpstr>Calibri Light</vt:lpstr>
      <vt:lpstr>Microsoft YaHei</vt:lpstr>
      <vt:lpstr>Arial Unicode MS</vt:lpstr>
      <vt:lpstr>Office Theme</vt:lpstr>
      <vt:lpstr>1_Custom Design</vt:lpstr>
      <vt:lpstr>Custom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quoc khanh</dc:creator>
  <cp:lastModifiedBy>Toàn Nguyễn</cp:lastModifiedBy>
  <cp:revision>535</cp:revision>
  <dcterms:created xsi:type="dcterms:W3CDTF">2021-04-24T02:00:00Z</dcterms:created>
  <dcterms:modified xsi:type="dcterms:W3CDTF">2026-07-04T00:33:07Z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524613E67C974B02AF5C4FC8F227BAC0_13</vt:lpwstr>
  </property>
  <property fmtid="{D5CDD505-2E9C-101B-9397-08002B2CF9AE}" pid="3" name="KSOProductBuildVer">
    <vt:lpwstr>1033-12.1.0.25242</vt:lpwstr>
  </property>
</Properties>
</file>